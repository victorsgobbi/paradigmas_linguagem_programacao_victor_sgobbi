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5" roundtripDataSignature="AMtx7mhAbyt2SEsCaP97pLcP1OAqt33J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30" name="Google Shape;23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48" name="Google Shape;24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57" name="Google Shape;25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66" name="Google Shape;26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75" name="Google Shape;27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84" name="Google Shape;28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93" name="Google Shape;29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02" name="Google Shape;30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20" name="Google Shape;32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29" name="Google Shape;329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38" name="Google Shape;33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47" name="Google Shape;34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56" name="Google Shape;35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73" name="Google Shape;37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82" name="Google Shape;38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91" name="Google Shape;39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00" name="Google Shape;40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09" name="Google Shape;40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18" name="Google Shape;41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27" name="Google Shape;42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36" name="Google Shape;43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45" name="Google Shape;44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54" name="Google Shape;454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5" name="Google Shape;455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65" name="Google Shape;46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75" name="Google Shape;47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84" name="Google Shape;48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493" name="Google Shape;49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02" name="Google Shape;502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11" name="Google Shape;51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20" name="Google Shape;52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1" name="Google Shape;521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29" name="Google Shape;529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38" name="Google Shape;538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47" name="Google Shape;54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56" name="Google Shape;55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65" name="Google Shape;565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6" name="Google Shape;566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74" name="Google Shape;574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83" name="Google Shape;583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5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592" name="Google Shape;592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0"/>
          <p:cNvSpPr txBox="1"/>
          <p:nvPr>
            <p:ph type="ctrTitle"/>
          </p:nvPr>
        </p:nvSpPr>
        <p:spPr>
          <a:xfrm>
            <a:off x="381000" y="13716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0"/>
          <p:cNvSpPr txBox="1"/>
          <p:nvPr>
            <p:ph idx="1" type="subTitle"/>
          </p:nvPr>
        </p:nvSpPr>
        <p:spPr>
          <a:xfrm>
            <a:off x="381000" y="3276600"/>
            <a:ext cx="365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Lucida Sans"/>
              <a:buNone/>
              <a:defRPr>
                <a:solidFill>
                  <a:srgbClr val="CC3300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2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7" name="Google Shape;27;p62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2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3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4"/>
          <p:cNvSpPr txBox="1"/>
          <p:nvPr>
            <p:ph type="title"/>
          </p:nvPr>
        </p:nvSpPr>
        <p:spPr>
          <a:xfrm rot="5400000">
            <a:off x="4848225" y="2257425"/>
            <a:ext cx="579120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4"/>
          <p:cNvSpPr txBox="1"/>
          <p:nvPr>
            <p:ph idx="1" type="body"/>
          </p:nvPr>
        </p:nvSpPr>
        <p:spPr>
          <a:xfrm rot="5400000">
            <a:off x="695325" y="295275"/>
            <a:ext cx="5791200" cy="596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64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4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5"/>
          <p:cNvSpPr txBox="1"/>
          <p:nvPr>
            <p:ph idx="1" type="body"/>
          </p:nvPr>
        </p:nvSpPr>
        <p:spPr>
          <a:xfrm rot="5400000">
            <a:off x="2400300" y="-190500"/>
            <a:ext cx="4572000" cy="81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1" name="Google Shape;41;p65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5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6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666699"/>
              </a:buClr>
              <a:buSzPts val="1000"/>
              <a:buFont typeface="Lucida San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9pPr>
          </a:lstStyle>
          <a:p/>
        </p:txBody>
      </p:sp>
      <p:sp>
        <p:nvSpPr>
          <p:cNvPr id="47" name="Google Shape;47;p66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6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Lucida San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rgbClr val="666699"/>
              </a:buClr>
              <a:buSzPts val="2400"/>
              <a:buFont typeface="Lucida San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»"/>
              <a:defRPr sz="2000"/>
            </a:lvl9pPr>
          </a:lstStyle>
          <a:p/>
        </p:txBody>
      </p:sp>
      <p:sp>
        <p:nvSpPr>
          <p:cNvPr id="52" name="Google Shape;52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666699"/>
              </a:buClr>
              <a:buSzPts val="1000"/>
              <a:buFont typeface="Lucida San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Lucida San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rgbClr val="666699"/>
              </a:buClr>
              <a:buSzPts val="900"/>
              <a:buFont typeface="Lucida Sans"/>
              <a:buNone/>
              <a:defRPr sz="900"/>
            </a:lvl9pPr>
          </a:lstStyle>
          <a:p/>
        </p:txBody>
      </p:sp>
      <p:sp>
        <p:nvSpPr>
          <p:cNvPr id="53" name="Google Shape;53;p67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7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8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8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9pPr>
          </a:lstStyle>
          <a:p/>
        </p:txBody>
      </p:sp>
      <p:sp>
        <p:nvSpPr>
          <p:cNvPr id="61" name="Google Shape;61;p6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9pPr>
          </a:lstStyle>
          <a:p/>
        </p:txBody>
      </p:sp>
      <p:sp>
        <p:nvSpPr>
          <p:cNvPr id="62" name="Google Shape;62;p6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b="1" sz="1600"/>
            </a:lvl9pPr>
          </a:lstStyle>
          <a:p/>
        </p:txBody>
      </p:sp>
      <p:sp>
        <p:nvSpPr>
          <p:cNvPr id="63" name="Google Shape;63;p6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Lucida San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Char char="»"/>
              <a:defRPr sz="1600"/>
            </a:lvl9pPr>
          </a:lstStyle>
          <a:p/>
        </p:txBody>
      </p:sp>
      <p:sp>
        <p:nvSpPr>
          <p:cNvPr id="64" name="Google Shape;64;p69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9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0"/>
          <p:cNvSpPr txBox="1"/>
          <p:nvPr>
            <p:ph idx="1" type="body"/>
          </p:nvPr>
        </p:nvSpPr>
        <p:spPr>
          <a:xfrm>
            <a:off x="609600" y="16002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9pPr>
          </a:lstStyle>
          <a:p/>
        </p:txBody>
      </p:sp>
      <p:sp>
        <p:nvSpPr>
          <p:cNvPr id="69" name="Google Shape;69;p70"/>
          <p:cNvSpPr txBox="1"/>
          <p:nvPr>
            <p:ph idx="2" type="body"/>
          </p:nvPr>
        </p:nvSpPr>
        <p:spPr>
          <a:xfrm>
            <a:off x="4762500" y="1600200"/>
            <a:ext cx="4000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rgbClr val="666699"/>
              </a:buClr>
              <a:buSzPts val="2000"/>
              <a:buFont typeface="Lucida San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sz="1800"/>
            </a:lvl9pPr>
          </a:lstStyle>
          <a:p/>
        </p:txBody>
      </p:sp>
      <p:sp>
        <p:nvSpPr>
          <p:cNvPr id="70" name="Google Shape;70;p70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0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666699"/>
              </a:buClr>
              <a:buSzPts val="1600"/>
              <a:buFont typeface="Lucida San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666699"/>
              </a:buClr>
              <a:buSzPts val="1400"/>
              <a:buFont typeface="Lucida Sans"/>
              <a:buNone/>
              <a:defRPr sz="1400"/>
            </a:lvl9pPr>
          </a:lstStyle>
          <a:p/>
        </p:txBody>
      </p:sp>
      <p:sp>
        <p:nvSpPr>
          <p:cNvPr id="75" name="Google Shape;75;p71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/>
        </p:nvSpPr>
        <p:spPr>
          <a:xfrm>
            <a:off x="6073775" y="6564312"/>
            <a:ext cx="155892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ISBN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0-321-49362-1</a:t>
            </a:r>
            <a:endParaRPr/>
          </a:p>
        </p:txBody>
      </p:sp>
      <p:pic>
        <p:nvPicPr>
          <p:cNvPr id="11" name="Google Shape;11;p5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11625" y="25400"/>
            <a:ext cx="5032375" cy="622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b="0" i="0" sz="2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  <a:defRPr b="0" i="0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  <a:defRPr b="0" i="0" sz="21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9" name="Google Shape;19;p61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  <a:defRPr b="0" i="0" sz="2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  <a:defRPr b="0" i="0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  <a:defRPr b="0" i="0" sz="21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  <a:defRPr b="0" i="0" sz="1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rgbClr val="666699"/>
              </a:buClr>
              <a:buSzPts val="1800"/>
              <a:buFont typeface="Lucida Sans"/>
              <a:buChar char="»"/>
              <a:defRPr b="0" i="0" sz="1800" u="none" cap="none" strike="noStrik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20" name="Google Shape;20;p61"/>
          <p:cNvSpPr txBox="1"/>
          <p:nvPr>
            <p:ph idx="11" type="ftr"/>
          </p:nvPr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21" name="Google Shape;21;p61"/>
          <p:cNvSpPr txBox="1"/>
          <p:nvPr>
            <p:ph idx="12" type="sldNum"/>
          </p:nvPr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cxnSp>
        <p:nvCxnSpPr>
          <p:cNvPr id="22" name="Google Shape;22;p61"/>
          <p:cNvCxnSpPr/>
          <p:nvPr/>
        </p:nvCxnSpPr>
        <p:spPr>
          <a:xfrm>
            <a:off x="609600" y="1524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med" w="med" type="none"/>
            <a:tailEnd len="med" w="med" type="none"/>
          </a:ln>
        </p:spPr>
      </p:cxnSp>
      <p:cxnSp>
        <p:nvCxnSpPr>
          <p:cNvPr id="23" name="Google Shape;23;p61"/>
          <p:cNvCxnSpPr/>
          <p:nvPr/>
        </p:nvCxnSpPr>
        <p:spPr>
          <a:xfrm>
            <a:off x="609600" y="1219200"/>
            <a:ext cx="8153400" cy="0"/>
          </a:xfrm>
          <a:prstGeom prst="straightConnector1">
            <a:avLst/>
          </a:prstGeom>
          <a:noFill/>
          <a:ln cap="flat" cmpd="sng" w="57150">
            <a:solidFill>
              <a:srgbClr val="CC3300"/>
            </a:solidFill>
            <a:prstDash val="solid"/>
            <a:miter lim="8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>
            <p:ph type="ctrTitle"/>
          </p:nvPr>
        </p:nvSpPr>
        <p:spPr>
          <a:xfrm>
            <a:off x="381000" y="1371600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Lucida Sans"/>
              <a:buNone/>
            </a:pPr>
            <a:r>
              <a:rPr b="1" i="0" lang="en-US" sz="36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Capítulo 4</a:t>
            </a:r>
            <a:endParaRPr/>
          </a:p>
        </p:txBody>
      </p:sp>
      <p:sp>
        <p:nvSpPr>
          <p:cNvPr id="83" name="Google Shape;83;p1"/>
          <p:cNvSpPr txBox="1"/>
          <p:nvPr>
            <p:ph idx="1" type="subTitle"/>
          </p:nvPr>
        </p:nvSpPr>
        <p:spPr>
          <a:xfrm>
            <a:off x="381000" y="3276600"/>
            <a:ext cx="365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rgbClr val="CC3300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e Análise Sintática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" name="Google Shape;91;p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Capítulo 4 - Tópicos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Introdução</a:t>
            </a:r>
            <a:endParaRPr/>
          </a:p>
          <a:p>
            <a:pPr indent="-3556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  <a:p>
            <a:pPr indent="-3556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  <a:p>
            <a:pPr indent="-3556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</a:t>
            </a:r>
            <a:endParaRPr/>
          </a:p>
          <a:p>
            <a:pPr indent="-3556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533400" lvl="0" marL="533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0" name="Google Shape;100;p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Introdução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Todos os tipos de implementação de LP (compilação, interpretação pura e híbridos) utilizam de análise do código fonte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Quase toda a análise sintática é baseada na descrição da sintaxe do código da linguagem (FNB)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9" name="Google Shape;109;p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análise sintática de um processador de linguagens consiste em duas partes: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Analisador léxico (matematicamente um autômato finito baseado em uma gramática regular)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Analisador sintático também chamado de parser (matematicamente, um autômato com pilha baseado em uma Gramática Livre de Contexto – GLC ou na FNB)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609600" y="1524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Vantagens do uso da FNB para Descrever a Sintaxe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Fornece uma descrição clara e concisa da sintaxe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analisador sintático pode ser baseado na FNB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Manter o analisador baseado na FNB é mais fácil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7" name="Google Shape;127;p6"/>
          <p:cNvSpPr txBox="1"/>
          <p:nvPr>
            <p:ph type="title"/>
          </p:nvPr>
        </p:nvSpPr>
        <p:spPr>
          <a:xfrm>
            <a:off x="609600" y="228600"/>
            <a:ext cx="8534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200"/>
              <a:buFont typeface="Lucida Sans"/>
              <a:buNone/>
            </a:pPr>
            <a:r>
              <a:rPr b="0" i="0" lang="en-US" sz="32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Razões para Separar a Análise Léxica da Análise Sintática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Simplicidade – abordagens menos complexas podem ser utilizadas para análise léxica, separando-as do parser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Eficiência – a separação permite otimização da análise léxica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Portabilidade – parte da análise léxica pode não ser portável, mas a sintática é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6" name="Google Shape;136;p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é um </a:t>
            </a: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casador de padrões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que busca encontrar uma subcadeia em uma cadeia analisando os padrões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é o front-end para o parser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Identifica subcadeias no código fonte, e os agrupa logicamente, atribuindo códigos internos aos agrupamentos de acordo com a estrutura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Token é o código interno, associado a um ou vários lexemas (variáveis – IDENT, + é o OP_SOMA)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44" name="Google Shape;144;p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result = oldsum – value / 100;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1750" y="2362200"/>
            <a:ext cx="4057650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156" name="Google Shape;156;p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é uma função chamada pelo parser quando precisa do próximo token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Três abordagens:para o analisador léxico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</a:pPr>
            <a:r>
              <a:t/>
            </a:r>
            <a:endParaRPr b="0" i="0" sz="20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Escrever uma descrição formal dos tokens e usar uma ferramenta que constrói a tabela da análise léxica a partir da descrição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Montar um diagrama de estado que descreve os tokens e escrevem um programa que implementa o diagrama de estado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–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Montar um diagrama de estado que descreve os tokens e construir à mão a tabela da análise léxica que implementa o diagrama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63" name="Google Shape;163;p1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4" name="Google Shape;164;p1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Projeto do Diagrama de Estados</a:t>
            </a:r>
            <a:endParaRPr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 diagrama de estados com transições a partir de todos os caracteres da linguagem seria muito extenso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Exemplo: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L = {w ϵ {a,b,c,d,e,f,g,h,i,j,k,l,m,n,o,p,q,r,s,t,u,v,w, x,y,z,A,B,C,D,E,F,G,H,I,J,K,L,M,N,O,P,Q,R,S,T,U,V,W,X,Y,Z,0,1,2,3,4,5,6,7,8,9,_} / w é um identificador em C}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72" name="Google Shape;172;p1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3" name="Google Shape;173;p1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Em muitos casos, as transições podem ser combinadas para simplificar o diagrama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reconhecer um identificador, todas as letras maiúsculas e minúsculas são equivalentes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1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Usar uma classe de caracteres ao invés das letras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reconhecer um inteiro, todos os dígitos são equivalentes, usar uma classe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2" name="Google Shape;182;p1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183" name="Google Shape;183;p1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Palavras reservadas e identificadores podem ser reconhecidos juntos (ao invés de tratar cada palavra reservada no diagrama)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Usar uma tabela para determinar se um possível identificador é uma palavra reservada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1" name="Google Shape;191;p1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– Exemplo diagrama</a:t>
            </a:r>
            <a:endParaRPr/>
          </a:p>
        </p:txBody>
      </p:sp>
      <p:sp>
        <p:nvSpPr>
          <p:cNvPr id="192" name="Google Shape;192;p1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Monte um AFD que reconheça números inteiros, reais e nomes de variáveis.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Considere que nomes de variáveis precisam ter pelo menos uma letra, e qualquer tamanho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0" name="Google Shape;200;p1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– Exemplo diagrama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8" name="Google Shape;208;p1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</a:t>
            </a:r>
            <a:endParaRPr/>
          </a:p>
        </p:txBody>
      </p:sp>
      <p:sp>
        <p:nvSpPr>
          <p:cNvPr id="209" name="Google Shape;209;p15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Funções úteis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–"/>
            </a:pP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getChar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pega o próximo caracter da entrada, coloca em </a:t>
            </a: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nextChar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e determina a classe, colocando-o em </a:t>
            </a: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charClass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–"/>
            </a:pP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addChar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adiciona o caracter de </a:t>
            </a: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nextChar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à variável que está processando o </a:t>
            </a: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lexema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ourier New"/>
              <a:buChar char="–"/>
            </a:pP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lookup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determina se a cadeia do lexema é uma palavra reservada retornando um código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7" name="Google Shape;217;p1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Diagrama de Estados</a:t>
            </a:r>
            <a:endParaRPr/>
          </a:p>
        </p:txBody>
      </p:sp>
      <p:pic>
        <p:nvPicPr>
          <p:cNvPr id="218" name="Google Shape;2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1609725"/>
            <a:ext cx="7581900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6" name="Google Shape;226;p1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Analisador Léxico</a:t>
            </a:r>
            <a:endParaRPr/>
          </a:p>
        </p:txBody>
      </p:sp>
      <p:sp>
        <p:nvSpPr>
          <p:cNvPr id="227" name="Google Shape;227;p17"/>
          <p:cNvSpPr txBox="1"/>
          <p:nvPr>
            <p:ph idx="1" type="body"/>
          </p:nvPr>
        </p:nvSpPr>
        <p:spPr>
          <a:xfrm>
            <a:off x="533400" y="1752600"/>
            <a:ext cx="8610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Implementação: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🡪 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front.c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(páginas 166-170)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- Dado a entrada </a:t>
            </a:r>
            <a:r>
              <a:rPr b="0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(sum + 47) / total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programa produz a saída: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25 Next lexeme is (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11 Next lexeme is sum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21 Next lexeme is +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10 Next lexeme is 47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26 Next lexeme is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24 Next lexeme is 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11 Next lexeme is total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Courier New"/>
              <a:buNone/>
            </a:pPr>
            <a:r>
              <a:rPr b="0" i="0" lang="en-US" sz="16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-1 Next lexeme is EOF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34" name="Google Shape;234;p1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5" name="Google Shape;235;p1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  <p:sp>
        <p:nvSpPr>
          <p:cNvPr id="236" name="Google Shape;236;p1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Objetivos da análise sintática, dado um programa: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Encontrar todos os erros sintáticos, e para cada erro, apresentar uma mensagem de diagnóstico, e se recuperar rapidamente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Produzir a árvore de análise sintática, ou ao menos um caminho da árvore para o programa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4" name="Google Shape;244;p1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Duas categorias de análise sintática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Descendente </a:t>
            </a: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(Top down)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– constrói a árvore sintática começando pela raiz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Usa derivação mais a esquerda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Constrói a árvore usando pré-ordem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Ascendente </a:t>
            </a:r>
            <a:r>
              <a:rPr b="0" i="1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(Bottom up)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 constrói a árvore sintática começando pelas folhas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Usa o inverso da derivação mais à direita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análise sintática normalmente analisa um token a frente da entrada</a:t>
            </a:r>
            <a:endParaRPr/>
          </a:p>
        </p:txBody>
      </p:sp>
      <p:sp>
        <p:nvSpPr>
          <p:cNvPr id="245" name="Google Shape;245;p1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3" name="Google Shape;253;p2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Dado uma forma sentencial, xAα , a análise sintática descendente deve encontrar a regra de A correta para obter a próxima forma sentencial na derivação mais à esquerda, usando somente os primeiros tokens produzidos por 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Algoritmos Descendentes mais comuns: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Recursiva: implementação no código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LL: implementação por meio de tabelas sintáticas</a:t>
            </a:r>
            <a:endParaRPr/>
          </a:p>
        </p:txBody>
      </p:sp>
      <p:sp>
        <p:nvSpPr>
          <p:cNvPr id="254" name="Google Shape;254;p2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2" name="Google Shape;262;p2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- Exemplo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 -&gt; aA | bB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-&gt; aaA |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 -&gt;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 -&gt; cC |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Como gerar aaabbcc?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endParaRPr/>
          </a:p>
        </p:txBody>
      </p:sp>
      <p:sp>
        <p:nvSpPr>
          <p:cNvPr id="263" name="Google Shape;263;p2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1" name="Google Shape;271;p2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Dado uma forma sentencial, α, a análise sintática ascendente determina qual subcadeia de α é o lado direito de uma regra na gramática que pode ser reduzida para produzir a forma sentencial anterior na derivação mais à direita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Algoritmos Ascendentes mais comuns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Algoritmos da família LR</a:t>
            </a:r>
            <a:endParaRPr/>
          </a:p>
        </p:txBody>
      </p:sp>
      <p:sp>
        <p:nvSpPr>
          <p:cNvPr id="272" name="Google Shape;272;p2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0" name="Google Shape;280;p2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 - Exemplo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 -&gt; aA | bB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-&gt; aaA |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 -&gt;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 -&gt; cC | 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Como gerar aaabbcc?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aaabbcc</a:t>
            </a:r>
            <a:endParaRPr/>
          </a:p>
        </p:txBody>
      </p:sp>
      <p:sp>
        <p:nvSpPr>
          <p:cNvPr id="281" name="Google Shape;281;p2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9" name="Google Shape;289;p24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Complexidade da Análise Sintática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a análise é feita para uma gramática sem ambiguidade, são complexos e ineficientes (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O(n</a:t>
            </a:r>
            <a:r>
              <a:rPr b="1" baseline="30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sendo que n é o tamanho da entrada)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Os compiladores fazem com que a análise sintática rodem sobre um subconjunto de todas as gramáticas sem ambiguidade, executando em tempo linear (</a:t>
            </a:r>
            <a:r>
              <a:rPr b="1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O(n)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sendo que n é o tamanho da entrada)</a:t>
            </a:r>
            <a:endParaRPr/>
          </a:p>
        </p:txBody>
      </p:sp>
      <p:sp>
        <p:nvSpPr>
          <p:cNvPr id="290" name="Google Shape;290;p2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8" name="Google Shape;298;p25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 -&gt; aA | bB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-&gt; aaA |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 -&gt; bB | cC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 -&gt; cC | c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Quais regras geram: aaaaabbbcc?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99" name="Google Shape;299;p2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Ascendente x Descendente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06" name="Google Shape;306;p2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7" name="Google Shape;307;p26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  <p:sp>
        <p:nvSpPr>
          <p:cNvPr id="308" name="Google Shape;308;p26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Consiste em uma coleção de subprogramas, muitos recursivos e produz uma árvore de análise sintática em ordem descendente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FNBE é idealmente adequada para analisadores sintáticos descendentes recursivos, uma vez que a FNBE minimiza o número de não-terminais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6" name="Google Shape;316;p27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  <p:sp>
        <p:nvSpPr>
          <p:cNvPr id="317" name="Google Shape;317;p2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Gramática na FNBE para expressões simples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&lt;expr&gt; → &lt;term&gt; {(+ | -) &lt;term&gt;}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&lt;term&gt; → &lt;factor&gt; {(* | /) &lt;factor&gt;}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&lt;factor&gt; → id | int_constant | ( &lt;expr&gt; 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24" name="Google Shape;324;p2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5" name="Google Shape;325;p2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Considere que temos um analisador léxico chamado </a:t>
            </a:r>
            <a:r>
              <a:rPr b="0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lex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que coloca o próximo token em </a:t>
            </a:r>
            <a:r>
              <a:rPr b="0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nextToken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processo de análise quando temos somente uma expressão do lado direito da regra é: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cada símbolo terminal no lado direito da regra, esse símbolo é comparado com nextToken, se casar continua, se não é erro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cada símbolo não-terminal no lado direito da regra, o analisador sintático é chamado novamente para o não-terminal</a:t>
            </a:r>
            <a:endParaRPr/>
          </a:p>
        </p:txBody>
      </p:sp>
      <p:sp>
        <p:nvSpPr>
          <p:cNvPr id="326" name="Google Shape;326;p28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33" name="Google Shape;333;p2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4" name="Google Shape;334;p2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Function expr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Parses strings in the language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generated by the rule: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&lt;expr&gt; → &lt;term&gt; {(+ | -) &lt;term&gt;}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</a:pPr>
            <a:r>
              <a:t/>
            </a:r>
            <a:endParaRPr b="1" i="0" sz="1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void expr()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Lucida Sans"/>
              <a:buNone/>
            </a:pPr>
            <a:r>
              <a:t/>
            </a:r>
            <a:endParaRPr b="1" i="0" sz="1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Parse the first term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  term();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/* As long as the next token is + or -, call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lex to get the next token and parse the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next term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  while (nextToken == ADD_OP ||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         nextToken == SUB_OP){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    lex();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    term();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  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rgbClr val="333399"/>
              </a:buClr>
              <a:buSzPts val="1400"/>
              <a:buFont typeface="Courier New"/>
              <a:buNone/>
            </a:pPr>
            <a:r>
              <a:rPr b="1" i="0" lang="en-US" sz="1400" u="none">
                <a:solidFill>
                  <a:srgbClr val="33339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35" name="Google Shape;335;p29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3" name="Google Shape;343;p3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t/>
            </a:r>
            <a:endParaRPr b="0" i="0" sz="18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Este trecho não detecta erros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Utiliza-se a convenção de que cada rotina da análise sintática deixa o próximo token em </a:t>
            </a:r>
            <a:r>
              <a:rPr b="1" i="0" lang="en-US" sz="24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nextToken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1" i="0" sz="2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4" name="Google Shape;344;p30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51" name="Google Shape;351;p3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2" name="Google Shape;352;p3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 não terminal com mais de uma regra no lado direito precisa determinar qual lado direito será processado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regra correta é escolhida com base no próximo token da entrada (lookahead)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próximo token é comparado com o primeiro token que pode ser gerado pela regra, até que case com alguma regra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Caso não ache nenhum casamento nas comparações, é um erro sintático</a:t>
            </a:r>
            <a:endParaRPr/>
          </a:p>
        </p:txBody>
      </p:sp>
      <p:sp>
        <p:nvSpPr>
          <p:cNvPr id="353" name="Google Shape;353;p31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1" name="Google Shape;361;p32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  <p:sp>
        <p:nvSpPr>
          <p:cNvPr id="362" name="Google Shape;362;p32"/>
          <p:cNvSpPr txBox="1"/>
          <p:nvPr/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- Exemplo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 -&gt; aA | bB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-&gt; aaA | bB | cC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B -&gt; bB | 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 -&gt; ccC | cc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t/>
            </a:r>
            <a:endParaRPr b="0" i="0" sz="2400" u="none" cap="none" strike="noStrik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Como gerar aaabcc?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term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Parses strings in the language generated by the rule: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&lt;term&gt; -&gt; &lt;factor&gt; {(* | /) &lt;factor&gt;)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void term()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Parse the first factor */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factor();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 cap="none" strike="noStrik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As long as the next token is * or /,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next token and parse the next factor */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while (nextToken == MULT_OP || nextToken == DIV_OP)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lex();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factor();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 /* End of function term */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0" name="Google Shape;370;p33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8" name="Google Shape;378;p34"/>
          <p:cNvSpPr txBox="1"/>
          <p:nvPr>
            <p:ph idx="1" type="body"/>
          </p:nvPr>
        </p:nvSpPr>
        <p:spPr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Function factor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Parses strings in the language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generated by the rule: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&lt;factor&gt; -&gt; id  |  (&lt;expr&gt;)  */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void factor() 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/* Determine which RHS */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   if (nextToken) == ID_CODE || nextToken == INT_CODE)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/* For the RHS id, just call lex */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     lex();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/* If the RHS is (&lt;expr&gt;) </a:t>
            </a: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–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call lex to pass over the left parenthesis,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call expr, and check for the right parenthesis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 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else if (nextToken == LP_CODE)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   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lex();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expr();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2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 </a:t>
            </a: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if (nextToken == RP_CODE)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lex();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    error();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 }  /* End of else if (nextToken == ... 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  else error(); /* Neither RHS matches */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1" i="0" sz="24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" name="Google Shape;379;p34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7" name="Google Shape;387;p35"/>
          <p:cNvSpPr txBox="1"/>
          <p:nvPr>
            <p:ph idx="1" type="body"/>
          </p:nvPr>
        </p:nvSpPr>
        <p:spPr>
          <a:xfrm>
            <a:off x="609600" y="1295400"/>
            <a:ext cx="8153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- Resultado da análise léxica e sintática em </a:t>
            </a:r>
            <a:r>
              <a:rPr b="0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(sum + 47) / total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Lucida Sans"/>
              <a:buNone/>
            </a:pPr>
            <a:r>
              <a:t/>
            </a:r>
            <a:endParaRPr b="1" i="0" sz="12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25 Next lexeme is (	Next token is: 11 Next lexeme is total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&lt;expr&gt;			Enter &lt;factor&gt; 	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&lt;term&gt;			Next token is: -1 Next lexeme is EOF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&lt;factor&gt;			Exit &lt;factor&gt;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11 Next lexeme is sum	Exit &lt;term&gt;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&lt;expr&gt;			Exit &lt;expr&gt;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&lt;term&gt;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&lt;factor&gt;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21 Next lexeme is +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&lt;factor&gt;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&lt;term&gt;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10 Next lexeme is 47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&lt;term&gt;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Enter &lt;factor&gt;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26 Next lexeme is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&lt;factor&gt;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&lt;term&gt;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&lt;expr&gt;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Next token is: 24 Next lexeme is 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Courier New"/>
              <a:buNone/>
            </a:pPr>
            <a:r>
              <a:rPr b="1" i="0" lang="en-US" sz="12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Exit &lt;factor&gt;</a:t>
            </a:r>
            <a:endParaRPr/>
          </a:p>
        </p:txBody>
      </p:sp>
      <p:sp>
        <p:nvSpPr>
          <p:cNvPr id="388" name="Google Shape;388;p35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6" name="Google Shape;396;p36"/>
          <p:cNvSpPr txBox="1"/>
          <p:nvPr>
            <p:ph idx="1" type="body"/>
          </p:nvPr>
        </p:nvSpPr>
        <p:spPr>
          <a:xfrm>
            <a:off x="457200" y="1371600"/>
            <a:ext cx="8686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classe de gramáticas LL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Recursão à Esquerda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Se uma gramática tem recursão à esquerda, direta ou indiretamente, não é possível utilizar um analisador sintático descendente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Uma gramática pode ser modificada para remover a recursão à esquerda :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cada não-terminal A, 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AutoNum type="arabicPeriod"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Agrupar as regras de A, tal que A 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Aα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| … | Aα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| 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|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| … |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na qual nenhuma regra de β‘s começa com A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2. Substituir a regra de A original com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 A 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 |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 | … | β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</a:t>
            </a:r>
            <a:endParaRPr/>
          </a:p>
          <a:p>
            <a:pPr indent="-342900" lvl="3" marL="1714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None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 A’ </a:t>
            </a:r>
            <a:r>
              <a:rPr b="0" i="0" lang="en-US" sz="1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α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 | α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 | … | α</a:t>
            </a:r>
            <a:r>
              <a:rPr b="0" baseline="-2500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</a:t>
            </a: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A’ |  ε</a:t>
            </a:r>
            <a:endParaRPr/>
          </a:p>
        </p:txBody>
      </p:sp>
      <p:sp>
        <p:nvSpPr>
          <p:cNvPr id="397" name="Google Shape;397;p36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04" name="Google Shape;404;p3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5" name="Google Shape;405;p37"/>
          <p:cNvSpPr txBox="1"/>
          <p:nvPr>
            <p:ph idx="1" type="body"/>
          </p:nvPr>
        </p:nvSpPr>
        <p:spPr>
          <a:xfrm>
            <a:off x="457200" y="1371600"/>
            <a:ext cx="8686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classe de gramáticas LL</a:t>
            </a:r>
            <a:endParaRPr/>
          </a:p>
          <a:p>
            <a:pPr indent="-457200" lvl="1" marL="9144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Recursão à Esquerda - Exemplo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S -&gt; aAA | bbB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 -&gt; AaB | abA | bbB | cCc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B -&gt; bbB | bb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 -&gt; d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t/>
            </a:r>
            <a:endParaRPr b="0" i="0" sz="21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Onde está a recursão?</a:t>
            </a:r>
            <a:endParaRPr/>
          </a:p>
          <a:p>
            <a:pPr indent="-400050" lvl="2" marL="131445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None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Como arrumar?</a:t>
            </a:r>
            <a:endParaRPr/>
          </a:p>
          <a:p>
            <a:pPr indent="-209550" lvl="0" marL="34290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Lucida Sans"/>
              <a:buNone/>
            </a:pPr>
            <a:r>
              <a:t/>
            </a:r>
            <a:endParaRPr b="0" i="0" sz="2100" u="none">
              <a:solidFill>
                <a:srgbClr val="66669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13" name="Google Shape;413;p3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4" name="Google Shape;414;p3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Outra característica das gramáticas que não permite análise sintática descendente é obtido a partir do teste de disjunção par a par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inabilidade de determinar o lado direito correto das regras por meio do lookahead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Def: FIRST(α) = {a | α =&gt;* aβ 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(If α =&gt;* ε, ε is in FIRST(α))</a:t>
            </a:r>
            <a:endParaRPr/>
          </a:p>
        </p:txBody>
      </p:sp>
      <p:sp>
        <p:nvSpPr>
          <p:cNvPr id="415" name="Google Shape;415;p38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22" name="Google Shape;422;p3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Teste de Disjunção par a par: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cada não-terminal A na gramática, que tem mais de uma regra, e para cada par de regras de A, tal que A →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e A →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j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e a seguinte expressão deve ser verdadeira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     FIRST(α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) ⋂ FIRST(α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j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) = φ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 - 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intersecção dos dois conjuntos deve ser vazia</a:t>
            </a:r>
            <a:endParaRPr/>
          </a:p>
        </p:txBody>
      </p:sp>
      <p:sp>
        <p:nvSpPr>
          <p:cNvPr id="424" name="Google Shape;424;p39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31" name="Google Shape;431;p4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32" name="Google Shape;432;p4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Teste de Disjunção par a par: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 que não gera problema no teste: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A -&gt; aB  |  bAb  |  Bb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B -&gt; cB  |  d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Exemplo que gera problema no teste: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A -&gt; aB  |  BAb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B -&gt; aB  |  b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33" name="Google Shape;433;p40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40" name="Google Shape;440;p4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1" name="Google Shape;441;p41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do teste da disjunção pode ser resolvido substituindo: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&lt;variable&gt; → identifier  |  identifier [&lt;expression&gt;]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   por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&lt;variable&gt; → identifier &lt;new&gt;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&lt;new&gt; → ε   |  [&lt;expression&gt;]</a:t>
            </a:r>
            <a:endParaRPr/>
          </a:p>
        </p:txBody>
      </p:sp>
      <p:sp>
        <p:nvSpPr>
          <p:cNvPr id="442" name="Google Shape;442;p41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49" name="Google Shape;449;p4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0" name="Google Shape;450;p42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  <p:sp>
        <p:nvSpPr>
          <p:cNvPr id="451" name="Google Shape;451;p42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análise sintática ascendente deve encontrar uma regra, tal que o lado direito desta regra possa ser reduzido para a forma sentencial anterior à derivação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58" name="Google Shape;458;p4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59" name="Google Shape;459;p4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  <p:sp>
        <p:nvSpPr>
          <p:cNvPr id="460" name="Google Shape;460;p43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Considera a seguinte gramática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 a seguinte derivação</a:t>
            </a:r>
            <a:endParaRPr/>
          </a:p>
        </p:txBody>
      </p:sp>
      <p:pic>
        <p:nvPicPr>
          <p:cNvPr id="461" name="Google Shape;4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50" y="2057400"/>
            <a:ext cx="266065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8887" y="3338512"/>
            <a:ext cx="2779712" cy="336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69" name="Google Shape;469;p4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70" name="Google Shape;470;p4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  <p:sp>
        <p:nvSpPr>
          <p:cNvPr id="471" name="Google Shape;471;p44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análise sintática ascendente começa a partir da última linha, e deve retornar a regra inicial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Considere: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 + T * id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Esta regra contém três expressões do lado direito das regras originais E + T, T e id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Se escolher E + T, resulta em E * id, que não é o nosso objetivo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Escolhendo id, temos E + T * F</a:t>
            </a:r>
            <a:endParaRPr/>
          </a:p>
        </p:txBody>
      </p:sp>
      <p:pic>
        <p:nvPicPr>
          <p:cNvPr id="472" name="Google Shape;4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2590800"/>
            <a:ext cx="236220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79" name="Google Shape;479;p4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0" name="Google Shape;480;p45"/>
          <p:cNvSpPr txBox="1"/>
          <p:nvPr>
            <p:ph idx="1" type="body"/>
          </p:nvPr>
        </p:nvSpPr>
        <p:spPr>
          <a:xfrm>
            <a:off x="609600" y="15240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Manipuladores da análise sintática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Definição: β is é o manipulador da forma sentencial direita γ = αβw se e somente se             S =&gt;*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rm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αAw =&gt;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rm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αβw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baseline="-2500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Defiição: β é uma frase da forma sentencial direita γ  se e somente se  			                            S =&gt;* γ  =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=&gt;+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βα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	=&gt;+ representa com um ou mais passos de derivação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Definição: β é uma frase simples de forma sentencial à direita γ  se e somente se                    S =&gt;* γ  =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=&gt; 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βα</a:t>
            </a:r>
            <a:r>
              <a:rPr b="0" baseline="-2500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/>
          </a:p>
        </p:txBody>
      </p:sp>
      <p:sp>
        <p:nvSpPr>
          <p:cNvPr id="481" name="Google Shape;481;p4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88" name="Google Shape;488;p4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9" name="Google Shape;489;p46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Intuition about handles (continued):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The handle of a right sentential form is its leftmost simple phrase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Given a parse tree, it is now easy to find the handle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Parsing can be thought of as handle pruning</a:t>
            </a:r>
            <a:endParaRPr/>
          </a:p>
        </p:txBody>
      </p:sp>
      <p:sp>
        <p:nvSpPr>
          <p:cNvPr id="490" name="Google Shape;490;p4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497" name="Google Shape;497;p4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8" name="Google Shape;498;p4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Algoritmos de deslocamento e redução (Shift-Reduce)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Reduzir é a ação de substituir um manipulador no topo da pilha da análise sintática com o símbolo correspondente do lado esquerdo da regra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Deslocar é a ação de mover para o próximo token da pilha da análise sintática</a:t>
            </a:r>
            <a:endParaRPr/>
          </a:p>
        </p:txBody>
      </p:sp>
      <p:sp>
        <p:nvSpPr>
          <p:cNvPr id="499" name="Google Shape;499;p4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06" name="Google Shape;506;p4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7" name="Google Shape;507;p4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Vantagens no uso de analisadores sintáticos LR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Eles podem ser construídos para todas as linguagens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Eles podem detectar erros sintáticos o mais cedo possível</a:t>
            </a:r>
            <a:endParaRPr/>
          </a:p>
        </p:txBody>
      </p:sp>
      <p:sp>
        <p:nvSpPr>
          <p:cNvPr id="508" name="Google Shape;508;p4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15" name="Google Shape;515;p49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6" name="Google Shape;516;p49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Analisadores sintáticos LR devem ser construídos com o uso de ferramentas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Um analisador sintático ascendente pode usar a história inteira do analisador, até o ponto atual, para tomar decisões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As decisões podem ser armazenadas na pilha do analisador sintático</a:t>
            </a:r>
            <a:endParaRPr/>
          </a:p>
        </p:txBody>
      </p:sp>
      <p:sp>
        <p:nvSpPr>
          <p:cNvPr id="517" name="Google Shape;517;p49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0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24" name="Google Shape;524;p50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5" name="Google Shape;525;p50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conteúdo da pilha de analise sintática para um analisador LR tem a seguinte forma: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(S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X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X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…X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S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m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a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i+1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…a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$)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Na qual S são os símbolos de estados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X são os símbolos da gramática</a:t>
            </a:r>
            <a:endParaRPr/>
          </a:p>
        </p:txBody>
      </p:sp>
      <p:sp>
        <p:nvSpPr>
          <p:cNvPr id="526" name="Google Shape;526;p50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33" name="Google Shape;533;p51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4" name="Google Shape;534;p51"/>
          <p:cNvSpPr txBox="1"/>
          <p:nvPr>
            <p:ph idx="1" type="body"/>
          </p:nvPr>
        </p:nvSpPr>
        <p:spPr>
          <a:xfrm>
            <a:off x="609600" y="1447800"/>
            <a:ext cx="8534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Analisadores LR são construídos usando a tabela da análise sintática, e a tabela tem dois componentes, o ACTION e o GOTO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ACTION especifica a ação do analisador, dado um estado atual do analisador representado pelo símbolo de estado no topo da pilha e o próximo símbolo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Estados nas linhas e terminais nas colunas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GOTO especifica qual estado colocar no topo da pilha do analisador após a ação de reduzir terminar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666699"/>
              </a:buClr>
              <a:buSzPts val="2100"/>
              <a:buFont typeface="Lucida Sans"/>
              <a:buChar char="•"/>
            </a:pPr>
            <a:r>
              <a:rPr b="0" i="0" lang="en-US" sz="21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Estados nas linhas e não terminais nas colunas</a:t>
            </a:r>
            <a:endParaRPr/>
          </a:p>
        </p:txBody>
      </p:sp>
      <p:sp>
        <p:nvSpPr>
          <p:cNvPr id="535" name="Google Shape;535;p51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42" name="Google Shape;542;p52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3" name="Google Shape;543;p52"/>
          <p:cNvSpPr txBox="1"/>
          <p:nvPr>
            <p:ph type="title"/>
          </p:nvPr>
        </p:nvSpPr>
        <p:spPr>
          <a:xfrm>
            <a:off x="0" y="381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Estrutura de um analisador sintático LR</a:t>
            </a:r>
            <a:endParaRPr/>
          </a:p>
        </p:txBody>
      </p:sp>
      <p:pic>
        <p:nvPicPr>
          <p:cNvPr id="544" name="Google Shape;5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12" y="1566862"/>
            <a:ext cx="8523287" cy="430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51" name="Google Shape;551;p53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2" name="Google Shape;552;p53"/>
          <p:cNvSpPr txBox="1"/>
          <p:nvPr>
            <p:ph idx="1" type="body"/>
          </p:nvPr>
        </p:nvSpPr>
        <p:spPr>
          <a:xfrm>
            <a:off x="6858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Configuração inicial: (S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, a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…a</a:t>
            </a:r>
            <a:r>
              <a:rPr b="0" baseline="-2500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$)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0" i="0" sz="28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Ações do analisador: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um deslocamento, o próximo símbolo da entrada é inserido na pilha com o símbolo de estado que é parte da especificação de deslocamento na tabela ACTION</a:t>
            </a:r>
            <a:endParaRPr/>
          </a:p>
        </p:txBody>
      </p:sp>
      <p:sp>
        <p:nvSpPr>
          <p:cNvPr id="553" name="Google Shape;553;p53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4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60" name="Google Shape;560;p54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1" name="Google Shape;561;p54"/>
          <p:cNvSpPr txBox="1"/>
          <p:nvPr>
            <p:ph idx="1" type="body"/>
          </p:nvPr>
        </p:nvSpPr>
        <p:spPr>
          <a:xfrm>
            <a:off x="6858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Ações do analisador: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Para uma redução, o manipulador deve ser removido da pilha. Como para cada símbolo da gramática na pilha existe um símbolo de estado, o número de símbolos removidos da pilha é duas vezes o de símbolos no manipulador. Após a remoção do manipulador e de seus símbolos de estado associados, o lado esquerdo da regra é inserido e a tabela GOTO é usada com o rótulo da linha sendo o símbolo exposto quando o manipulador e os símbolos foram removidos, e o rótulo da coluna sendo o não terminal que é o lado esquerdo da regra usada na redução</a:t>
            </a:r>
            <a:endParaRPr/>
          </a:p>
        </p:txBody>
      </p:sp>
      <p:sp>
        <p:nvSpPr>
          <p:cNvPr id="562" name="Google Shape;562;p54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5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69" name="Google Shape;569;p55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0" name="Google Shape;570;p55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Ações do analisador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a ação é Accept, a análise sintática está completa e nenhum erro foi encontrado</a:t>
            </a:r>
            <a:endParaRPr/>
          </a:p>
          <a:p>
            <a:pPr indent="-1333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None/>
            </a:pPr>
            <a:r>
              <a:t/>
            </a:r>
            <a:endParaRPr b="0" i="0" sz="24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Lucida Sans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Quando a ação é Error, o analisador sintático chama uma rotina de tratamento de erros</a:t>
            </a:r>
            <a:endParaRPr/>
          </a:p>
        </p:txBody>
      </p:sp>
      <p:sp>
        <p:nvSpPr>
          <p:cNvPr id="571" name="Google Shape;571;p55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6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78" name="Google Shape;578;p56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9" name="Google Shape;579;p56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Tabela de Análise Sintática LR</a:t>
            </a:r>
            <a:endParaRPr/>
          </a:p>
        </p:txBody>
      </p:sp>
      <p:pic>
        <p:nvPicPr>
          <p:cNvPr id="580" name="Google Shape;58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435100"/>
            <a:ext cx="6172200" cy="492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7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87" name="Google Shape;587;p57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8" name="Google Shape;588;p57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tabela de análise sintática pode ser gerada a partir de uma gramática com algumas ferramentas, por exemplo: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yacc</a:t>
            </a:r>
            <a:r>
              <a:rPr b="0" i="0" lang="en-US" sz="2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Lucida Sans"/>
              <a:buNone/>
            </a:pPr>
            <a:r>
              <a:t/>
            </a:r>
            <a:endParaRPr b="1" i="0" sz="2800" u="none">
              <a:solidFill>
                <a:schemeClr val="accen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ourier New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bison</a:t>
            </a:r>
            <a:endParaRPr/>
          </a:p>
        </p:txBody>
      </p:sp>
      <p:sp>
        <p:nvSpPr>
          <p:cNvPr id="589" name="Google Shape;589;p57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Ascendente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8"/>
          <p:cNvSpPr txBox="1"/>
          <p:nvPr/>
        </p:nvSpPr>
        <p:spPr>
          <a:xfrm>
            <a:off x="685800" y="6248400"/>
            <a:ext cx="419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2015 Pearson. All rights reserved.</a:t>
            </a:r>
            <a:endParaRPr/>
          </a:p>
        </p:txBody>
      </p:sp>
      <p:sp>
        <p:nvSpPr>
          <p:cNvPr id="596" name="Google Shape;596;p58"/>
          <p:cNvSpPr txBox="1"/>
          <p:nvPr/>
        </p:nvSpPr>
        <p:spPr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</a:t>
            </a: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7" name="Google Shape;597;p58"/>
          <p:cNvSpPr txBox="1"/>
          <p:nvPr>
            <p:ph type="title"/>
          </p:nvPr>
        </p:nvSpPr>
        <p:spPr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99"/>
              </a:buClr>
              <a:buSzPts val="3600"/>
              <a:buFont typeface="Lucida Sans"/>
              <a:buNone/>
            </a:pPr>
            <a:r>
              <a:rPr b="0" i="0" lang="en-US" sz="3600" u="none">
                <a:solidFill>
                  <a:srgbClr val="666699"/>
                </a:solidFill>
                <a:latin typeface="Lucida Sans"/>
                <a:ea typeface="Lucida Sans"/>
                <a:cs typeface="Lucida Sans"/>
                <a:sym typeface="Lucida Sans"/>
              </a:rPr>
              <a:t>Resumo</a:t>
            </a:r>
            <a:endParaRPr/>
          </a:p>
        </p:txBody>
      </p:sp>
      <p:sp>
        <p:nvSpPr>
          <p:cNvPr id="598" name="Google Shape;598;p58"/>
          <p:cNvSpPr txBox="1"/>
          <p:nvPr>
            <p:ph idx="1" type="body"/>
          </p:nvPr>
        </p:nvSpPr>
        <p:spPr>
          <a:xfrm>
            <a:off x="609600" y="1600200"/>
            <a:ext cx="8534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léxica é um casador de padrões que isola as partes de pequena escala de um programa, os lexemas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Deteca erros de sintaxe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ucida Sans"/>
              <a:buChar char="–"/>
            </a:pPr>
            <a:r>
              <a:rPr b="0" i="0" lang="en-US" sz="18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Produz a árvore de análise sintática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</a:pPr>
            <a:r>
              <a:t/>
            </a:r>
            <a:endParaRPr b="0" i="0" sz="20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Análise sintática descendente recursiva é um analisador LL que se baseia na FNBE da linguagem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</a:pPr>
            <a:r>
              <a:t/>
            </a:r>
            <a:endParaRPr b="0" i="0" sz="20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O problema da análise sintática para analisadores sintáticos ascendentes é encontrar a subcadeia da forma sentencial atual que pode ser reduzida ára seu lado esquerdo associado</a:t>
            </a:r>
            <a:endParaRPr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None/>
            </a:pPr>
            <a:r>
              <a:t/>
            </a:r>
            <a:endParaRPr b="0" i="0" sz="2000" u="none">
              <a:solidFill>
                <a:schemeClr val="accent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Lucida Sans"/>
              <a:buChar char="•"/>
            </a:pPr>
            <a:r>
              <a:rPr b="0" i="0" lang="en-US" sz="2000" u="none">
                <a:solidFill>
                  <a:schemeClr val="accent2"/>
                </a:solidFill>
                <a:latin typeface="Lucida Sans"/>
                <a:ea typeface="Lucida Sans"/>
                <a:cs typeface="Lucida Sans"/>
                <a:sym typeface="Lucida Sans"/>
              </a:rPr>
              <a:t>A família LR de analisadores sintáticos de deslocamento e redução é a abordagem de análise sintática ascendente mais usada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2003-08-01T12:29:19Z</dcterms:created>
  <dc:creator>David Garrett</dc:creator>
</cp:coreProperties>
</file>