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6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Click to move the slide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7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8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5867E3-5DAF-420E-BD2F-88EC613084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8F17B6-2F9C-4DD6-9780-359A23177B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030DD9-ED5C-4782-B8BD-A8B3D438CB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399F62-5DB1-4B8D-B508-BAF71AB962A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E92E22-0CAF-42AF-98DA-4CDEA8B4FD3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CC77A9-8E07-4C1B-925F-BECB932D5F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66B7EC-F474-4938-AC7E-282BABA5C53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A0A4A8-A3B1-42FB-A058-CC5B9F48F55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55BCF1-FCE8-42C1-AC76-61ADC97EDF3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7BA0D7-DDFF-4549-AB34-0EA76E1038E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4B238C-AB54-42DF-A2B7-BF3F083FED6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D3E010-A84C-475D-88AE-0C21B5D04FD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DA8593-DBB6-4381-B54C-8A8F0CCB4AE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7D22A1-A943-4199-BF3A-D18D7944381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0F153F-D56D-4610-840B-6A9D64BAFDC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8D00B4-2FC1-4869-B145-FF6B22ED2C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CDC35B-8059-4C66-AFB0-582C975DB12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B3AF26-F295-4A5C-8F5B-FDB61FEB9A4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51EA0C-2DD9-4064-B956-48528519165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3D8A6F-2B33-4074-B929-380B9989DF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AB4A67-50AF-417F-B3AD-C2BB2C97E71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B98093-192C-4304-A080-862A931D18B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54FB48-61ED-497C-BD5F-ECCC9C7B887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DF1C6C-5D61-41A0-97A6-6EF3864A66B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49BF49-E7F1-47A8-87C7-A654685B19C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C03ED0-381A-4027-9F14-3B93451EF8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77DE46-FC9F-4C97-B620-57D3CF100A8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0FAC16-EF8A-4585-A5D6-BDD752EE916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388593-3189-4E24-A25A-DD7E150CB8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7755BC-A862-4531-B9E6-9AD2AD72EBA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EE578C-4770-43E6-A550-9B94DF91213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B37B96-316F-4A0E-A451-EB16D6AF0D0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518DE3-ED91-49DB-A563-E05BA201D31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151634-4196-494A-A010-4DC61D5BC1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35916C-0AF6-4C16-A4C5-A03586E1A44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A7451F-2110-438D-BCF3-2F6BCE829AB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DF2D43-385C-407F-B30D-D89FB93523F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CDCFFE-6B2C-43CB-B9BE-AF383F6D4F1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C36190-9501-4354-A954-BB625FB5E76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MX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612E52-4F3E-4853-BB45-9500D4D6A85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Click to edit the title text format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Click to edit the outline text format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700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Second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143000" indent="-228600">
              <a:spcBef>
                <a:spcPts val="700"/>
              </a:spcBef>
              <a:buClr>
                <a:srgbClr val="6666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Third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3" marL="1600200" indent="-228600">
              <a:spcBef>
                <a:spcPts val="700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Fourth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4" marL="2057400" indent="-228600">
              <a:spcBef>
                <a:spcPts val="700"/>
              </a:spcBef>
              <a:buClr>
                <a:srgbClr val="666699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Fifth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Sixth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Seventh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93396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0940F24A-7062-476C-8744-B76727F3853B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Line 6"/>
          <p:cNvSpPr/>
          <p:nvPr/>
        </p:nvSpPr>
        <p:spPr>
          <a:xfrm>
            <a:off x="609480" y="1523880"/>
            <a:ext cx="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Line 7"/>
          <p:cNvSpPr/>
          <p:nvPr/>
        </p:nvSpPr>
        <p:spPr>
          <a:xfrm>
            <a:off x="609480" y="1219320"/>
            <a:ext cx="8153640" cy="0"/>
          </a:xfrm>
          <a:prstGeom prst="line">
            <a:avLst/>
          </a:prstGeom>
          <a:ln w="57240">
            <a:solidFill>
              <a:srgbClr val="99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3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Copyright © 2015 Pearson. All rights reserved.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5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D1912B-4C1D-4334-8288-7D3E8F4CA301}" type="slidenum">
              <a:rPr b="0" lang="en-US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/>
          <p:nvPr/>
        </p:nvSpPr>
        <p:spPr>
          <a:xfrm>
            <a:off x="5846040" y="6543720"/>
            <a:ext cx="17841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</a:rPr>
              <a:t>ISBN </a:t>
            </a: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0-321-49362-1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Click to edit the title text format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Click to edit the outline text format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700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Second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143000" indent="-228600">
              <a:spcBef>
                <a:spcPts val="700"/>
              </a:spcBef>
              <a:buClr>
                <a:srgbClr val="6666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Third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3" marL="1600200" indent="-228600">
              <a:spcBef>
                <a:spcPts val="700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Fourth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4" marL="2057400" indent="-228600">
              <a:spcBef>
                <a:spcPts val="700"/>
              </a:spcBef>
              <a:buClr>
                <a:srgbClr val="666699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Fifth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Sixth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Lucida Sans Unicode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Seventh Outline Level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1294920"/>
            <a:ext cx="3657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333399"/>
                </a:solidFill>
                <a:latin typeface="Lucida Sans Unicode"/>
              </a:rPr>
              <a:t>Capítulo 1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380880" y="3276720"/>
            <a:ext cx="365760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cc3300"/>
                </a:solidFill>
                <a:latin typeface="Lucida Sans Unicode"/>
              </a:rPr>
              <a:t>Preliminares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  <p:pic>
        <p:nvPicPr>
          <p:cNvPr id="23" name="Picture 1" descr=""/>
          <p:cNvPicPr/>
          <p:nvPr/>
        </p:nvPicPr>
        <p:blipFill>
          <a:blip r:embed="rId1"/>
          <a:stretch/>
        </p:blipFill>
        <p:spPr>
          <a:xfrm>
            <a:off x="4267080" y="0"/>
            <a:ext cx="4876920" cy="603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4ABFA35C-FC93-4039-8194-35032A0ECC3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Capítulo 1 - Tópicos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Razões para estudar conceitos de linguagens de programação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Domínios de Programação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Critérios de Avaliação de Linguagem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Influências no Projeto de Linguagens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Categorias de Linguagens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Trade-off no projeto de linguagem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Métodos de Implementação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533520" indent="-53352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Ambientes de Programação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633E5899-0FFD-4FE9-B242-E2622054E8C4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120" y="-360"/>
            <a:ext cx="8534520" cy="120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Razões para estudar conceitos de LP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85440" y="1676520"/>
            <a:ext cx="8458200" cy="44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Aumento da capacidade de expressar ideias 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Embasamento para escolher linguagens adequadas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Aumento da habilidade para aprender novas linguagens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Entender melhor a importância da implementação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Melhor uso de linguagens já conhecidas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Avanço geral da computação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BC3376AC-9F77-4F15-907A-3079593F823F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Domínios de Programação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447920"/>
            <a:ext cx="7772400" cy="44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Aplicações científicas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Números reais grandes, uso de vetores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Algol, Fortran, Matlab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Aplicações comerciais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Uso de números decimais e caracteres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COBOL, Banco de Dados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Inteligência artificial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Símbolos ao invés de números, uso de listas ligadas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LISP, Prolog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Programação de sistemas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Eficiência necessária devido ao uso contínuo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C, Java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Aplicações Web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Diferentes tipos de linguagem, de marcação (HTML), scripting (PHP), de propósito geral (Java)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F17B48E6-9A10-441C-938B-F17F7D4827EE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para avaliação de linguagens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3520" y="1447920"/>
            <a:ext cx="77724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Legibilidade</a:t>
            </a: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: facilidade com que os programas são lidos e escritos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Capacidade de escrita</a:t>
            </a: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: facilidade com que uma linguagem pode ser utilizada para criar programas para um domínio de problema específico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Confiabilidade</a:t>
            </a: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: se comporta de acordo com as suas especificações em todas as condições 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Custo</a:t>
            </a: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: custo final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63E0523-10FD-48D2-9C9C-9FEC23F23D03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Legibilidade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120" y="1294920"/>
            <a:ext cx="815364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80880" indent="-380880">
              <a:lnSpc>
                <a:spcPct val="8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Simplicidade geral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Quantidade gerenciável de características e construtores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Multiplicidade de recursos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00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666699"/>
                </a:solidFill>
                <a:latin typeface="Lucida Sans Unicode"/>
              </a:rPr>
              <a:t>i = i + 1</a:t>
            </a:r>
            <a:endParaRPr b="0" lang="en-US" sz="16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00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666699"/>
                </a:solidFill>
                <a:latin typeface="Lucida Sans Unicode"/>
              </a:rPr>
              <a:t>i +=1</a:t>
            </a:r>
            <a:endParaRPr b="0" lang="en-US" sz="16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00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666699"/>
                </a:solidFill>
                <a:latin typeface="Lucida Sans Unicode"/>
              </a:rPr>
              <a:t>i++</a:t>
            </a:r>
            <a:endParaRPr b="0" lang="en-US" sz="16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00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666699"/>
                </a:solidFill>
                <a:latin typeface="Lucida Sans Unicode"/>
              </a:rPr>
              <a:t>++i</a:t>
            </a:r>
            <a:endParaRPr b="0" lang="en-US" sz="1600" spc="-1" strike="noStrike">
              <a:solidFill>
                <a:srgbClr val="6666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Sobrecarga de operadores (+soma inteiros, reais, concatena strings)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F535A70-206E-4CF3-8A8B-90F1FE1FA615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Legibilidade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120" y="1294920"/>
            <a:ext cx="853452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380880" indent="-380880">
              <a:lnSpc>
                <a:spcPct val="8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Ortogonalidade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Possibilidade de combinar entre si, sem restrições, os componentes básicos da LP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Exemplo: permitir combinações de estruturas de dados, como arrays de registros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Contra exemplo: não permitir que um array seja usado como parâmetro de um procedimento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Falta de ortogonalidade de C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Possui dois tipos de dados estruturados (arrays e struct)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Registros podem ser retorno de função, arrays não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Um membro de estrutura pode ser de qualquer tipo, exceto void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Um elemento de array pode ser de qualquer tipo, exceto void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Parâmetros são passados por valor, a menos que sejam arrays, que são obrigatoriamente passados por referência)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1A9109EF-6CD4-4B17-9ECC-68936467D72A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Legibilidade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120" y="1294920"/>
            <a:ext cx="815364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80880" indent="-380880">
              <a:lnSpc>
                <a:spcPct val="8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Instruções de controle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Uso indiscriminado de </a:t>
            </a: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goto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Algumas linguagens na década de 50 e 60 precisavam do goto devido a falta de instruções de controle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Com o passar do tempo, a necessidade do goto foi eliminada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C58190EC-F7B3-46ED-BDBB-56AE5163B88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Legibilidade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120" y="1294920"/>
            <a:ext cx="815364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80880" indent="-380880">
              <a:lnSpc>
                <a:spcPct val="8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Tipos de dados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Presença de facilidades adequadas para definir tipos de dados e estruturas de dados em uma linguagem é outro auxílio significativo para a legibilidade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Terminou = 1 não é tão claro quanto Terminou = true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C9836953-C263-4841-A934-0155A674ECEF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Legibilidade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120" y="1294920"/>
            <a:ext cx="815364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80880" indent="-380880">
              <a:lnSpc>
                <a:spcPct val="8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Considerações sobre a sintaxe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Formas identificadoras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Reduzir o tamanho dos identificadores prejudica a legibilidade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8002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Palavras especiais afeta a legibilidade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Pascal e C encerram grupos com END e }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200240" indent="-343080">
              <a:lnSpc>
                <a:spcPct val="80000"/>
              </a:lnSpc>
              <a:spcBef>
                <a:spcPts val="425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-1" strike="noStrike">
                <a:solidFill>
                  <a:srgbClr val="666699"/>
                </a:solidFill>
                <a:latin typeface="Lucida Sans Unicode"/>
              </a:rPr>
              <a:t>Fortran 90 e Ada encerram grupos com end if e end loop</a:t>
            </a:r>
            <a:endParaRPr b="0" lang="en-US" sz="1700" spc="-1" strike="noStrike">
              <a:solidFill>
                <a:srgbClr val="666699"/>
              </a:solidFill>
              <a:latin typeface="Lucida Sans Unicode"/>
            </a:endParaRPr>
          </a:p>
          <a:p>
            <a:pPr lvl="1" marL="8002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10E510FB-5BC2-49FA-BEB3-940C7B0D87F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Crit. de Avaliação: capacidade de escrita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33520" y="1294920"/>
            <a:ext cx="777240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Simplicidade e ortogonalidade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Se uma LP tem um grande número de construções, alguns programadores não estarão familiarizados com todas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0973262B-A141-4AA6-9BF9-3EC0AFB61395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533520" y="1294920"/>
            <a:ext cx="777240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Suporte para abstração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Capacidade de definir e, depois usar estruturas ou operações complicadas de uma maneira que permita ignorar muito dos detalhes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Crit. de Avaliação: capacidade de escrita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5B051B37-3A14-4F80-8E5E-753BBB02A538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533520" y="1294920"/>
            <a:ext cx="861048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Expressividade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Formas convenientes de especificar computações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Uma expressão representa muitas computações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i++ ao invés de i = i + 1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For ao invés de while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Crit. de Avaliação: capacidade de escrita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41D9EBE6-CFAB-432A-A5B4-209238DB8569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Confiabilidade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Verificação de tipos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Testar se existem erros de tipos em determinados algoritmos, ou por meio do compilador ou durante a execução do programa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Durante a compilação é o mais indicado, quanto antes for detectado, menos caro para arrumar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Java detecta antes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Verificação de Tipos em C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int vetor[50];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vetor[100] = 10.3;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A334D181-E5C3-4B08-9FC4-4788CFCAF17E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Confiabilidade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Manipulação de exceções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Capacidade de um programa de interceptar erros em tempo de execução, pôr em prática medidas corretivas, e prosseguir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JAVA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try { … } 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catch (Exception e) { … }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C++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try { … }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catch (Exception &amp;exception) { … }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7634CC3D-C8E4-42EC-9559-F556555A123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Confiabilidade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 lnSpcReduction="10000"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Aliasing (apelidos)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Capacidade de ter um ou mais métodos ou nomes distintos para fazer referência à mesma célula de memória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char i = ‘x’;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char *p;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p = &amp;i;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*p = ‘z’;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union reg {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  </a:t>
            </a: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long I;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  </a:t>
            </a: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float f; } r;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… 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r.f = 1000;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C850A1C5-5211-4BC6-A55A-BD43E22DC8E0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Confiabilidade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Legibilidade e facilidade de escrita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Um programa escrito </a:t>
            </a:r>
            <a:r>
              <a:rPr b="0" lang="pt-BR" sz="1800" spc="-1" strike="noStrike">
                <a:solidFill>
                  <a:srgbClr val="333399"/>
                </a:solidFill>
                <a:latin typeface="Lucida Sans Unicode"/>
              </a:rPr>
              <a:t>em uma linguagem que não suporta maneiras naturais de expressar os algoritmos exigidos usará necessariamente métodos não naturais, menos prováveis de serem corretas </a:t>
            </a:r>
            <a:br>
              <a:rPr sz="1800"/>
            </a:br>
            <a:r>
              <a:rPr b="0" lang="pt-BR" sz="1800" spc="-1" strike="noStrike">
                <a:solidFill>
                  <a:srgbClr val="333399"/>
                </a:solidFill>
                <a:latin typeface="Lucida Sans Unicode"/>
              </a:rPr>
              <a:t> 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1800" spc="-1" strike="noStrike">
                <a:solidFill>
                  <a:srgbClr val="333399"/>
                </a:solidFill>
                <a:latin typeface="Lucida Sans Unicode"/>
              </a:rPr>
              <a:t>Quanto mais fácil é escrever um programa, mais probabilidade ele tem de estar correto.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800" spc="-1" strike="noStrike">
                <a:solidFill>
                  <a:srgbClr val="333399"/>
                </a:solidFill>
                <a:latin typeface="Lucida Sans Unicode"/>
              </a:rPr>
              <a:t>Programas de difícil leitura complicam também sua escrita e sua modificação </a:t>
            </a:r>
            <a:br>
              <a:rPr sz="1800"/>
            </a:br>
            <a:r>
              <a:rPr b="0" lang="pt-BR" sz="1800" spc="-1" strike="noStrike">
                <a:solidFill>
                  <a:srgbClr val="333399"/>
                </a:solidFill>
                <a:latin typeface="Lucida Sans Unicode"/>
              </a:rPr>
              <a:t> 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31EF9B81-9136-4FA7-8571-09981E0E43B1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Custo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33520" y="1371240"/>
            <a:ext cx="861048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Custo de treinamento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Custo do aprendizado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Custo da escrita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Diminuir custos para criar software utilizando linguagem de alto nível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Sistemas de implementação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pc="-1" strike="noStrike">
                <a:solidFill>
                  <a:srgbClr val="333399"/>
                </a:solidFill>
                <a:latin typeface="Lucida Sans Unicode"/>
              </a:rPr>
              <a:t>LP cujo sistema de implementação seja caro, ou rode somente em hardware caro, terá muito menos chance de tornar-se popular - Sucesso de Java 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Projeto da linguagem 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pc="-1" strike="noStrike">
                <a:solidFill>
                  <a:srgbClr val="333399"/>
                </a:solidFill>
                <a:latin typeface="Lucida Sans Unicode"/>
              </a:rPr>
              <a:t>Se uma LP exigir muitas verificações de tipos durante a execução, proibirá a execução rápida do código </a:t>
            </a:r>
            <a:br>
              <a:rPr sz="2400"/>
            </a:br>
            <a:r>
              <a:rPr b="0" lang="pt-BR" sz="2400" spc="-1" strike="noStrike">
                <a:solidFill>
                  <a:srgbClr val="333399"/>
                </a:solidFill>
                <a:latin typeface="Lucida Sans Unicode"/>
              </a:rPr>
              <a:t> 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3A344E95-1935-4DEF-91EE-761606702AA0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 de Avaliação: Custo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33520" y="1371240"/>
            <a:ext cx="861048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Compilação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Compiladores otimizados e processadores mais rápidos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Má confiabilidade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Falhas podem ocasionar insucesso do software e ações judiciais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Manutenção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Depende da legibilidade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Custo da manutenção pode chegar a duas ou quatro vezes o custo do desenvolvimento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6CD428D2-24AE-4EF9-9A17-0B382DCCB6B3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Critérios de Avaliação: Outros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Portabilidade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Facilidade com que os programas podem ser movidos de uma implementação para outra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Generalidade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Aplicabilidade a uma grande faixa de aplicações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37257F63-CE8F-4A96-9E91-4F4E93BE2C31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Influências no Projeto de Linguagens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Arquitetura de Computadores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Linguagens são desenvolvidas baseadas na arquitetura do computador, a Arquitetura de von Neumann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Metodologias de Projeto de Software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Novas metodologias de desenvolvimento (OO) levarão a novos paradigmas e consequentemente a novas LP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EF9123C8-78A1-4571-B7C8-EB55687FE966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52488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Influência da AC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Arquitetura de  Von Neumann 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Linguagens imperativas são as mais dominantes devido à arquitetura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Dados e programas armazenados na memória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Memória separada do processador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Instruções e dados são transmitidos da memória para CPU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Bases para linguagens imperativas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2" marL="1143000" indent="-228600">
              <a:spcBef>
                <a:spcPts val="476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900" spc="-1" strike="noStrike">
                <a:solidFill>
                  <a:srgbClr val="666699"/>
                </a:solidFill>
                <a:latin typeface="Lucida Sans Unicode"/>
              </a:rPr>
              <a:t>Variáveis modelam as células de memória</a:t>
            </a:r>
            <a:endParaRPr b="0" lang="en-US" sz="19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143000" indent="-228600">
              <a:spcBef>
                <a:spcPts val="476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900" spc="-1" strike="noStrike">
                <a:solidFill>
                  <a:srgbClr val="666699"/>
                </a:solidFill>
                <a:latin typeface="Lucida Sans Unicode"/>
              </a:rPr>
              <a:t>Sentenças de atribuição baseadas no envio de dados (memória -&gt; CPU)</a:t>
            </a:r>
            <a:endParaRPr b="0" lang="en-US" sz="19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143000" indent="-228600">
              <a:spcBef>
                <a:spcPts val="476"/>
              </a:spcBef>
              <a:buClr>
                <a:srgbClr val="666699"/>
              </a:buClr>
              <a:buFont typeface="Lucida Sans Unicode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900" spc="-1" strike="noStrike">
                <a:solidFill>
                  <a:srgbClr val="666699"/>
                </a:solidFill>
                <a:latin typeface="Lucida Sans Unicode"/>
              </a:rPr>
              <a:t>Iterações são eficientes nesta arquitetura</a:t>
            </a:r>
            <a:endParaRPr b="0" lang="en-US" sz="1900" spc="-1" strike="noStrike">
              <a:solidFill>
                <a:srgbClr val="666699"/>
              </a:solidFill>
              <a:latin typeface="Lucida Sans Unicode"/>
            </a:endParaRPr>
          </a:p>
          <a:p>
            <a:pPr lvl="2" marL="1143000" indent="0">
              <a:spcBef>
                <a:spcPts val="476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666699"/>
              </a:solidFill>
              <a:latin typeface="Lucida Sans Unicode"/>
            </a:endParaRPr>
          </a:p>
          <a:p>
            <a:pPr marL="343080" indent="0"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2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Slide Number Placeholder 3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E318867-F9C7-488A-ACD0-2ACB26D07F90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Arquitetura de von Neumann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pic>
        <p:nvPicPr>
          <p:cNvPr id="111" name="Imagem 5" descr=""/>
          <p:cNvPicPr/>
          <p:nvPr/>
        </p:nvPicPr>
        <p:blipFill>
          <a:blip r:embed="rId1"/>
          <a:stretch/>
        </p:blipFill>
        <p:spPr>
          <a:xfrm>
            <a:off x="1085760" y="1450800"/>
            <a:ext cx="7220160" cy="502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AD07BD39-2026-45C1-B79A-8B4B0DBB360A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Arquitetura de von Neumann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53452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Ciclo de busca-decodifica-executa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initialize the program counter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Courier New"/>
              </a:rPr>
              <a:t>repeat</a:t>
            </a: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 forever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fetch the instruction pointed by the counter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increment the counter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decode the instruction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333399"/>
                </a:solidFill>
                <a:latin typeface="Courier New"/>
              </a:rPr>
              <a:t>execute the instruction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Courier New"/>
              </a:rPr>
              <a:t>end repeat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333399"/>
                </a:solidFill>
                <a:latin typeface="Lucida Sans Unicode"/>
              </a:rPr>
              <a:t>Simulador OCR – A Level CPU Computer</a:t>
            </a:r>
            <a:endParaRPr b="0" lang="en-US" sz="32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0151470-556E-4DD8-A1B1-310ED94223F8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666699"/>
                </a:solidFill>
                <a:latin typeface="Lucida Sans Unicode"/>
              </a:rPr>
              <a:t>Metodologias de Projeto de Software</a:t>
            </a:r>
            <a:endParaRPr b="0" lang="en-US" sz="32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1950-1960 – Aplicações simples – preocupações com a </a:t>
            </a: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eficiência das máquinas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Fim dos anos 60 – </a:t>
            </a: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Eficiência dos programadores </a:t>
            </a: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(legibilidade), melhores estruturas de controle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Programação estruturada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Projeto top-down e refinamento passo a passo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Fim dos anos 70 – Mudança e orientado a processo para </a:t>
            </a: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orientado a dados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Abstração de dados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Meio dos anos 80 – </a:t>
            </a: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Programação OO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Abstração de dados + herança + polimorfismo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1C0B6640-87B6-44C2-A763-496426CF524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Categorias de Linguagens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120" y="1371240"/>
            <a:ext cx="8153640" cy="47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Imperativas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As características principais são variáveis, expressões de atribuição e iterações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Incluem as LP Orientadas a Objetos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Incluem as linguagens de script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Incluem as linguagens visuais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Exemplos: C, Java, Perl, JavaScript, Visual BASIC .NET, C++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Funcionais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Aplicar funções dados os parâmetros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Exemplos: LISP, Scheme, ML, F#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Lógicas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Baseadas em regras sem uma ordem particular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Exemplos: Prolog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</a:rPr>
              <a:t>Marcação/programação híbrida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Markup languages extended to support some programming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Lucida Sans Unicode"/>
              </a:rPr>
              <a:t>Exemplos: JSTL, XSLT</a:t>
            </a: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051FBDB7-042A-4983-9E77-B9155C21C4FA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Trade-Offs no Projeto de Linguagens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33520" y="1447920"/>
            <a:ext cx="861048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192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Confiabilidade vs. custo de execução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Exemplo: Java precisa garantir que todas as referências para elementos de arrays sejam verificadas para ter os índices indexados, porém isso leva a um custo maior de execução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Legibilidade vs capacidade de escrita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Exemplo: APL disponibiliza uma grande quantidade de operadores e uma grande quantidade de novos símbolos, que permite a escrita de computações complexas, porém dificultando a legibilidade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333399"/>
                </a:solidFill>
                <a:latin typeface="Lucida Sans Unicode"/>
              </a:rPr>
              <a:t>Capacidade de escrita (flexibilidade) vs. confiabilidade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Exemplo: Ponteiros em C++ são poderosos e muito flexíveis, porém não são confiáveis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93F86FF-ABA0-4288-AF88-0D89A246A418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Métodos de Implementação 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120" y="1295280"/>
            <a:ext cx="8153640" cy="510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Compilação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Os programas são traduzidos para linguagem de máquina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Incluem os sistemas JIT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Uso: aplicações comerciais grandes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Interpretação pura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Programas são interpretados por outro programa chamado de interpretador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Uso: pequenos programas ou quando a eficiência não é um requisito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Lucida Sans Unicode"/>
              </a:rPr>
              <a:t>Sistemas de implementação híbridos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União entre compiladores e interpretadores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Uso: pequenos e médios programas nos quais a eficiência não é um requisito principal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F507BB51-311F-4C41-BFD2-08E6888098BC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33520" y="380520"/>
            <a:ext cx="815328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Visão em Camadas do Computador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35" name="Text Box 5"/>
          <p:cNvSpPr/>
          <p:nvPr/>
        </p:nvSpPr>
        <p:spPr>
          <a:xfrm>
            <a:off x="593640" y="1336680"/>
            <a:ext cx="32162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Text Box 6"/>
          <p:cNvSpPr/>
          <p:nvPr/>
        </p:nvSpPr>
        <p:spPr>
          <a:xfrm>
            <a:off x="669960" y="1413000"/>
            <a:ext cx="31399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Text Box 7"/>
          <p:cNvSpPr/>
          <p:nvPr/>
        </p:nvSpPr>
        <p:spPr>
          <a:xfrm>
            <a:off x="669960" y="1717560"/>
            <a:ext cx="18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Text Box 8"/>
          <p:cNvSpPr/>
          <p:nvPr/>
        </p:nvSpPr>
        <p:spPr>
          <a:xfrm>
            <a:off x="669960" y="1260360"/>
            <a:ext cx="321624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cc"/>
                </a:solidFill>
                <a:latin typeface="Lucida Sans Unicode"/>
              </a:rPr>
              <a:t>O Sistema Operacional e a implementação da linguagem são camadas sobre uma interface de máquina do computador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9" name="Imagem 9" descr=""/>
          <p:cNvPicPr/>
          <p:nvPr/>
        </p:nvPicPr>
        <p:blipFill>
          <a:blip r:embed="rId1"/>
          <a:stretch/>
        </p:blipFill>
        <p:spPr>
          <a:xfrm>
            <a:off x="3657600" y="1260360"/>
            <a:ext cx="5410080" cy="517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AEE3FDDF-71B1-4AA1-A276-ED5893E6DB18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Compilação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33520" y="1447920"/>
            <a:ext cx="815328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Traduz programa de alto nível (linguagem fonte) em código de máquina (linguagem de máquina)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Tradução lenta, execução rápida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Processo de compilação com várias etapas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Análise léxica – converte os caracteres no programa fonte em unidade léxicas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Análise sintática – transforma as unidade léxicas em árvores da análise sintática que representam a estrutura sintática do programa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Análise semântica – gera código intermediário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Geração de código – gera código de máquina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oter Placeholder 2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Slide Number Placeholder 3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0C02CB1B-DD40-4322-9DF8-AEBDCAEC6D19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456840"/>
            <a:ext cx="6477120" cy="120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O Processo de Compilação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pic>
        <p:nvPicPr>
          <p:cNvPr id="147" name="Imagem 5" descr=""/>
          <p:cNvPicPr/>
          <p:nvPr/>
        </p:nvPicPr>
        <p:blipFill>
          <a:blip r:embed="rId1"/>
          <a:stretch/>
        </p:blipFill>
        <p:spPr>
          <a:xfrm>
            <a:off x="2629080" y="1295280"/>
            <a:ext cx="3924000" cy="515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E5438B97-D970-4A50-93A2-FAEE6482994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Interpretação pura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15364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Não há tradução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Implementação mais fácil dos programas (erros em tempo de execução são facilmente e imediatamente exibidos)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Execução mais lenta (10 a 100 vezes mais lento que programas compilados)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Geralmente requer mais espaço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Atualmente são raras devido as linguagens de alto nível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Linguagens de Script Web (JavaScript, PHP)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ooter Placeholder 2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Slide Number Placeholder 3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4E34908E-1E22-44C0-B6A6-260EDF237EE3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Processo de Interpretação Pura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pic>
        <p:nvPicPr>
          <p:cNvPr id="155" name="Imagem 5" descr=""/>
          <p:cNvPicPr/>
          <p:nvPr/>
        </p:nvPicPr>
        <p:blipFill>
          <a:blip r:embed="rId1"/>
          <a:stretch/>
        </p:blipFill>
        <p:spPr>
          <a:xfrm>
            <a:off x="533520" y="1371600"/>
            <a:ext cx="8153280" cy="493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CC11E9CA-4384-4D9C-B067-A5931F9DE7C6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Sistemas de Implementação Híbridos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120" y="1447920"/>
            <a:ext cx="853452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Compromisso entre compilação e pura interpretação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Código alto nível é traduzido em código intermediário que permite uma interpretação mais fácil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Mais rápido que pura interpretação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Exemplos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Programas em Perl são parcialmente compilados para detectar erros antes da interpretação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As primeiras implementações de Java eram híbridas. A forma intermediária é chamada de byte code, que fornece portabilidade para qualquer máquina que tenha um interpretador de byte code e um sistema de tempo de execução associado. Juntos eles são chamados de MVJ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m 5" descr=""/>
          <p:cNvPicPr/>
          <p:nvPr/>
        </p:nvPicPr>
        <p:blipFill>
          <a:blip r:embed="rId1"/>
          <a:stretch/>
        </p:blipFill>
        <p:spPr>
          <a:xfrm>
            <a:off x="2514600" y="1295280"/>
            <a:ext cx="4202280" cy="5105520"/>
          </a:xfrm>
          <a:prstGeom prst="rect">
            <a:avLst/>
          </a:prstGeom>
          <a:ln w="0">
            <a:noFill/>
          </a:ln>
        </p:spPr>
      </p:pic>
      <p:sp>
        <p:nvSpPr>
          <p:cNvPr id="161" name="Footer Placeholder 2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Slide Number Placeholder 3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3A744C78-CC02-465B-BB63-4434365A483F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5345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Sistemas de Implementação Híbridos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87C63017-A613-451D-95AD-A82DE9120E8E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666699"/>
                </a:solidFill>
                <a:latin typeface="Lucida Sans Unicode"/>
              </a:rPr>
              <a:t>Sistemas de Implementação Just in Time</a:t>
            </a:r>
            <a:endParaRPr b="0" lang="en-US" sz="32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120" y="1600200"/>
            <a:ext cx="853452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Inicialmente traduz os programas em uma linguagem intermediária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Então, durante a execução, compila os métodos de linguagem intermediário para linguagem de máquina. 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O código de máquina é mantido para chamadas subsequentes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Sistemas JIT são amplamente usados em programas Java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A linguagem .NET é implementada com um sistema JIT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Em essência, sistemas JIT são compiladores atrasados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D365F37E-1D6D-4AA7-A74D-470BDF62A6AE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Pré-processadores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33520" y="1447920"/>
            <a:ext cx="8153280" cy="457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É um programa que processa outro programa imediatamente antes de ser compilado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Lucida Sans Unicode"/>
              </a:rPr>
              <a:t>As instruções de pré-processador são embutidas em programas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700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pc="-1" strike="noStrike">
                <a:solidFill>
                  <a:srgbClr val="333399"/>
                </a:solidFill>
                <a:latin typeface="Lucida Sans Unicode"/>
              </a:rPr>
              <a:t>Exemplos em C</a:t>
            </a:r>
            <a:endParaRPr b="0" lang="en-US" sz="28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Courier New"/>
              </a:rPr>
              <a:t>#include, 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333399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Courier New"/>
              </a:rPr>
              <a:t>#define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ooter Placeholder 3"/>
          <p:cNvSpPr/>
          <p:nvPr/>
        </p:nvSpPr>
        <p:spPr>
          <a:xfrm>
            <a:off x="685800" y="6248520"/>
            <a:ext cx="4191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Copyright © 2015 Pearson. All rights reserved.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Slide Number Placeholder 4"/>
          <p:cNvSpPr/>
          <p:nvPr/>
        </p:nvSpPr>
        <p:spPr>
          <a:xfrm>
            <a:off x="693432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1-</a:t>
            </a:r>
            <a:fld id="{69BDD895-0AA2-4E0E-9AD4-6F407532D792}" type="slidenum">
              <a:rPr b="0" lang="en-US" sz="10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120" y="380520"/>
            <a:ext cx="815364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666699"/>
                </a:solidFill>
                <a:latin typeface="Lucida Sans Unicode"/>
              </a:rPr>
              <a:t>Ambientes de Programação</a:t>
            </a:r>
            <a:endParaRPr b="0" lang="en-US" sz="3600" spc="-1" strike="noStrike">
              <a:solidFill>
                <a:srgbClr val="666699"/>
              </a:solidFill>
              <a:latin typeface="Lucida Sans Unicode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33520" y="1371240"/>
            <a:ext cx="8153280" cy="487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Coleção de ferramentas utilizadas no desenvolvimento de software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UNIX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Ambiente de programação mais antigo com ferramentas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Atualmente utilizado com uma GUI (exemplos: CDE, KDE, e GNOME) que roda sobre o UNIX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Microsoft Visual Studio.NET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Ambiente de programação grande e complexo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Utilizado para construir aplicações web e não Web em qualquer linguagem .NET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  <a:p>
            <a:pPr marL="343080" indent="-343080">
              <a:spcBef>
                <a:spcPts val="601"/>
              </a:spcBef>
              <a:buClr>
                <a:srgbClr val="333399"/>
              </a:buClr>
              <a:buFont typeface="Lucida Sans Unicod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Lucida Sans Unicode"/>
              </a:rPr>
              <a:t>NetBeans</a:t>
            </a:r>
            <a:endParaRPr b="0" lang="en-US" sz="2400" spc="-1" strike="noStrike">
              <a:solidFill>
                <a:srgbClr val="333399"/>
              </a:solidFill>
              <a:latin typeface="Lucida Sans Unicode"/>
            </a:endParaRPr>
          </a:p>
          <a:p>
            <a:pPr lvl="1" marL="743040" indent="-285840">
              <a:spcBef>
                <a:spcPts val="499"/>
              </a:spcBef>
              <a:buClr>
                <a:srgbClr val="333399"/>
              </a:buClr>
              <a:buFont typeface="Lucida Sans Unicode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Lucida Sans Unicode"/>
              </a:rPr>
              <a:t>Ambiente primariamente para o desenvolvimento de aplicações Java, mas com suporte a JavaScript, Ruby, PHP, e outras LP</a:t>
            </a:r>
            <a:endParaRPr b="0" lang="en-US" sz="2000" spc="-1" strike="noStrike">
              <a:solidFill>
                <a:srgbClr val="333399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2003-08-01T09:29:19Z</dcterms:created>
  <dc:creator>David Garrett</dc:creator>
  <dc:description/>
  <dc:language>en-US</dc:language>
  <cp:lastModifiedBy>Maurilio</cp:lastModifiedBy>
  <dcterms:modified xsi:type="dcterms:W3CDTF">2022-08-01T15:13:16Z</dcterms:modified>
  <cp:revision>125</cp:revision>
  <dc:subject/>
  <dc:title>Chapter 1</dc:title>
</cp:coreProperties>
</file>