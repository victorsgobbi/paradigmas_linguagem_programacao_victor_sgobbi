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y="6858000" cx="9144000"/>
  <p:notesSz cx="6858000" cy="9144000"/>
  <p:embeddedFontLst>
    <p:embeddedFont>
      <p:font typeface="Helvetica Neue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GoogleSlidesCustomDataVersion2">
      <go:slidesCustomData xmlns:go="http://customooxmlschemas.google.com/" r:id="rId57" roundtripDataSignature="AMtx7mhFes7K5XvhXT78R6Vz28dmHB46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font" Target="fonts/HelveticaNeue-regular.fntdata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font" Target="fonts/HelveticaNeue-italic.fntdata"/><Relationship Id="rId10" Type="http://schemas.openxmlformats.org/officeDocument/2006/relationships/slide" Target="slides/slide4.xml"/><Relationship Id="rId54" Type="http://schemas.openxmlformats.org/officeDocument/2006/relationships/font" Target="fonts/HelveticaNeue-bold.fntdata"/><Relationship Id="rId13" Type="http://schemas.openxmlformats.org/officeDocument/2006/relationships/slide" Target="slides/slide7.xml"/><Relationship Id="rId57" Type="http://customschemas.google.com/relationships/presentationmetadata" Target="metadata"/><Relationship Id="rId12" Type="http://schemas.openxmlformats.org/officeDocument/2006/relationships/slide" Target="slides/slide6.xml"/><Relationship Id="rId56" Type="http://schemas.openxmlformats.org/officeDocument/2006/relationships/font" Target="fonts/HelveticaNeue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126" name="Google Shape;126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143" name="Google Shape;143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152" name="Google Shape;152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161" name="Google Shape;161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" name="Google Shape;162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170" name="Google Shape;170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179" name="Google Shape;179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0" name="Google Shape;180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188" name="Google Shape;188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9" name="Google Shape;189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197" name="Google Shape;197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8" name="Google Shape;198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206" name="Google Shape;206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7" name="Google Shape;207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215" name="Google Shape;215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6" name="Google Shape;216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224" name="Google Shape;224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5" name="Google Shape;225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233" name="Google Shape;233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4" name="Google Shape;234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242" name="Google Shape;242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3" name="Google Shape;243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259" name="Google Shape;259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0" name="Google Shape;260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268" name="Google Shape;268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Google Shape;269;p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277" name="Google Shape;277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8" name="Google Shape;278;p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286" name="Google Shape;286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7" name="Google Shape;287;p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295" name="Google Shape;295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6" name="Google Shape;296;p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304" name="Google Shape;304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5" name="Google Shape;305;p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313" name="Google Shape;313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4" name="Google Shape;314;p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322" name="Google Shape;322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3" name="Google Shape;323;p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331" name="Google Shape;331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2" name="Google Shape;332;p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341" name="Google Shape;341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2" name="Google Shape;342;p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350" name="Google Shape;350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1" name="Google Shape;351;p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399" name="Google Shape;399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0" name="Google Shape;400;p3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408" name="Google Shape;408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9" name="Google Shape;409;p3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417" name="Google Shape;417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8" name="Google Shape;418;p3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428" name="Google Shape;428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9" name="Google Shape;429;p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437" name="Google Shape;437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8" name="Google Shape;438;p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447" name="Google Shape;447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8" name="Google Shape;448;p4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456" name="Google Shape;456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7" name="Google Shape;457;p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466" name="Google Shape;466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7" name="Google Shape;467;p4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476" name="Google Shape;476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7" name="Google Shape;477;p4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485" name="Google Shape;485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6" name="Google Shape;486;p4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8"/>
          <p:cNvSpPr txBox="1"/>
          <p:nvPr>
            <p:ph type="ctrTitle"/>
          </p:nvPr>
        </p:nvSpPr>
        <p:spPr>
          <a:xfrm>
            <a:off x="381000" y="1371600"/>
            <a:ext cx="365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8"/>
          <p:cNvSpPr txBox="1"/>
          <p:nvPr>
            <p:ph idx="1" type="subTitle"/>
          </p:nvPr>
        </p:nvSpPr>
        <p:spPr>
          <a:xfrm>
            <a:off x="381000" y="3276600"/>
            <a:ext cx="3657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560"/>
              </a:spcBef>
              <a:spcAft>
                <a:spcPts val="0"/>
              </a:spcAft>
              <a:buClr>
                <a:srgbClr val="CC3300"/>
              </a:buClr>
              <a:buSzPts val="2800"/>
              <a:buFont typeface="Lucida Sans"/>
              <a:buNone/>
              <a:defRPr>
                <a:solidFill>
                  <a:srgbClr val="CC3300"/>
                </a:solidFill>
              </a:defRPr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Char char="–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9" name="Google Shape;19;p48"/>
          <p:cNvSpPr txBox="1"/>
          <p:nvPr>
            <p:ph idx="11" type="ftr"/>
          </p:nvPr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8"/>
          <p:cNvSpPr txBox="1"/>
          <p:nvPr>
            <p:ph idx="12" type="sldNum"/>
          </p:nvPr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0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0"/>
          <p:cNvSpPr txBox="1"/>
          <p:nvPr>
            <p:ph idx="1" type="body"/>
          </p:nvPr>
        </p:nvSpPr>
        <p:spPr>
          <a:xfrm>
            <a:off x="609600" y="1600200"/>
            <a:ext cx="8153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1" name="Google Shape;31;p50"/>
          <p:cNvSpPr txBox="1"/>
          <p:nvPr>
            <p:ph idx="11" type="ftr"/>
          </p:nvPr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0"/>
          <p:cNvSpPr txBox="1"/>
          <p:nvPr>
            <p:ph idx="12" type="sldNum"/>
          </p:nvPr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1"/>
          <p:cNvSpPr txBox="1"/>
          <p:nvPr>
            <p:ph type="title"/>
          </p:nvPr>
        </p:nvSpPr>
        <p:spPr>
          <a:xfrm rot="5400000">
            <a:off x="4848225" y="2257425"/>
            <a:ext cx="5791200" cy="2038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1"/>
          <p:cNvSpPr txBox="1"/>
          <p:nvPr>
            <p:ph idx="1" type="body"/>
          </p:nvPr>
        </p:nvSpPr>
        <p:spPr>
          <a:xfrm rot="5400000">
            <a:off x="695325" y="295275"/>
            <a:ext cx="5791200" cy="5962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6" name="Google Shape;36;p51"/>
          <p:cNvSpPr txBox="1"/>
          <p:nvPr>
            <p:ph idx="11" type="ftr"/>
          </p:nvPr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1"/>
          <p:cNvSpPr txBox="1"/>
          <p:nvPr>
            <p:ph idx="12" type="sldNum"/>
          </p:nvPr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2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2"/>
          <p:cNvSpPr txBox="1"/>
          <p:nvPr>
            <p:ph idx="1" type="body"/>
          </p:nvPr>
        </p:nvSpPr>
        <p:spPr>
          <a:xfrm rot="5400000">
            <a:off x="2400300" y="-190500"/>
            <a:ext cx="4572000" cy="81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41" name="Google Shape;41;p52"/>
          <p:cNvSpPr txBox="1"/>
          <p:nvPr>
            <p:ph idx="11" type="ftr"/>
          </p:nvPr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2"/>
          <p:cNvSpPr txBox="1"/>
          <p:nvPr>
            <p:ph idx="12" type="sldNum"/>
          </p:nvPr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5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Lucida Sans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rgbClr val="666699"/>
              </a:buClr>
              <a:buSzPts val="1200"/>
              <a:buFont typeface="Lucida Sans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Lucida Sans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rgbClr val="666699"/>
              </a:buClr>
              <a:buSzPts val="900"/>
              <a:buFont typeface="Lucida Sans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Lucida Sans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Lucida Sans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Lucida Sans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Lucida Sans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Lucida Sans"/>
              <a:buNone/>
              <a:defRPr sz="900"/>
            </a:lvl9pPr>
          </a:lstStyle>
          <a:p/>
        </p:txBody>
      </p:sp>
      <p:sp>
        <p:nvSpPr>
          <p:cNvPr id="47" name="Google Shape;47;p53"/>
          <p:cNvSpPr txBox="1"/>
          <p:nvPr>
            <p:ph idx="11" type="ftr"/>
          </p:nvPr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3"/>
          <p:cNvSpPr txBox="1"/>
          <p:nvPr>
            <p:ph idx="12" type="sldNum"/>
          </p:nvPr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Lucida Sans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rgbClr val="666699"/>
              </a:buClr>
              <a:buSzPts val="2800"/>
              <a:buFont typeface="Lucida Sans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rgbClr val="666699"/>
              </a:buClr>
              <a:buSzPts val="2000"/>
              <a:buFont typeface="Lucida Sans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Lucida Sans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Lucida Sans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Lucida Sans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Lucida Sans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Lucida Sans"/>
              <a:buChar char="»"/>
              <a:defRPr sz="2000"/>
            </a:lvl9pPr>
          </a:lstStyle>
          <a:p/>
        </p:txBody>
      </p:sp>
      <p:sp>
        <p:nvSpPr>
          <p:cNvPr id="52" name="Google Shape;52;p5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Lucida Sans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rgbClr val="666699"/>
              </a:buClr>
              <a:buSzPts val="1200"/>
              <a:buFont typeface="Lucida Sans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Lucida Sans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rgbClr val="666699"/>
              </a:buClr>
              <a:buSzPts val="900"/>
              <a:buFont typeface="Lucida Sans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Lucida Sans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Lucida Sans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Lucida Sans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Lucida Sans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Lucida Sans"/>
              <a:buNone/>
              <a:defRPr sz="900"/>
            </a:lvl9pPr>
          </a:lstStyle>
          <a:p/>
        </p:txBody>
      </p:sp>
      <p:sp>
        <p:nvSpPr>
          <p:cNvPr id="53" name="Google Shape;53;p54"/>
          <p:cNvSpPr txBox="1"/>
          <p:nvPr>
            <p:ph idx="11" type="ftr"/>
          </p:nvPr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4"/>
          <p:cNvSpPr txBox="1"/>
          <p:nvPr>
            <p:ph idx="12" type="sldNum"/>
          </p:nvPr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5"/>
          <p:cNvSpPr txBox="1"/>
          <p:nvPr>
            <p:ph idx="11" type="ftr"/>
          </p:nvPr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5"/>
          <p:cNvSpPr txBox="1"/>
          <p:nvPr>
            <p:ph idx="12" type="sldNum"/>
          </p:nvPr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6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6"/>
          <p:cNvSpPr txBox="1"/>
          <p:nvPr>
            <p:ph idx="11" type="ftr"/>
          </p:nvPr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56"/>
          <p:cNvSpPr txBox="1"/>
          <p:nvPr>
            <p:ph idx="12" type="sldNum"/>
          </p:nvPr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5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rgbClr val="666699"/>
              </a:buClr>
              <a:buSzPts val="2000"/>
              <a:buFont typeface="Lucida Sans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ucida Sans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rgbClr val="666699"/>
              </a:buClr>
              <a:buSzPts val="1600"/>
              <a:buFont typeface="Lucida Sans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Lucida Sans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Lucida Sans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Lucida Sans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Lucida Sans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Lucida Sans"/>
              <a:buNone/>
              <a:defRPr b="1" sz="1600"/>
            </a:lvl9pPr>
          </a:lstStyle>
          <a:p/>
        </p:txBody>
      </p:sp>
      <p:sp>
        <p:nvSpPr>
          <p:cNvPr id="65" name="Google Shape;65;p5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rgbClr val="666699"/>
              </a:buClr>
              <a:buSzPts val="2000"/>
              <a:buFont typeface="Lucida Sans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ucida Sans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rgbClr val="666699"/>
              </a:buClr>
              <a:buSzPts val="1600"/>
              <a:buFont typeface="Lucida Sans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Lucida Sans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Lucida Sans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Lucida Sans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Lucida Sans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Lucida Sans"/>
              <a:buChar char="»"/>
              <a:defRPr sz="1600"/>
            </a:lvl9pPr>
          </a:lstStyle>
          <a:p/>
        </p:txBody>
      </p:sp>
      <p:sp>
        <p:nvSpPr>
          <p:cNvPr id="66" name="Google Shape;66;p5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rgbClr val="666699"/>
              </a:buClr>
              <a:buSzPts val="2000"/>
              <a:buFont typeface="Lucida Sans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ucida Sans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rgbClr val="666699"/>
              </a:buClr>
              <a:buSzPts val="1600"/>
              <a:buFont typeface="Lucida Sans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Lucida Sans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Lucida Sans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Lucida Sans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Lucida Sans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Lucida Sans"/>
              <a:buNone/>
              <a:defRPr b="1" sz="1600"/>
            </a:lvl9pPr>
          </a:lstStyle>
          <a:p/>
        </p:txBody>
      </p:sp>
      <p:sp>
        <p:nvSpPr>
          <p:cNvPr id="67" name="Google Shape;67;p5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rgbClr val="666699"/>
              </a:buClr>
              <a:buSzPts val="2000"/>
              <a:buFont typeface="Lucida Sans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ucida Sans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rgbClr val="666699"/>
              </a:buClr>
              <a:buSzPts val="1600"/>
              <a:buFont typeface="Lucida Sans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Lucida Sans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Lucida Sans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Lucida Sans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Lucida Sans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Lucida Sans"/>
              <a:buChar char="»"/>
              <a:defRPr sz="1600"/>
            </a:lvl9pPr>
          </a:lstStyle>
          <a:p/>
        </p:txBody>
      </p:sp>
      <p:sp>
        <p:nvSpPr>
          <p:cNvPr id="68" name="Google Shape;68;p57"/>
          <p:cNvSpPr txBox="1"/>
          <p:nvPr>
            <p:ph idx="11" type="ftr"/>
          </p:nvPr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57"/>
          <p:cNvSpPr txBox="1"/>
          <p:nvPr>
            <p:ph idx="12" type="sldNum"/>
          </p:nvPr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8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8"/>
          <p:cNvSpPr txBox="1"/>
          <p:nvPr>
            <p:ph idx="1" type="body"/>
          </p:nvPr>
        </p:nvSpPr>
        <p:spPr>
          <a:xfrm>
            <a:off x="609600" y="1600200"/>
            <a:ext cx="40005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rgbClr val="666699"/>
              </a:buClr>
              <a:buSzPts val="2400"/>
              <a:buFont typeface="Lucida Sans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Lucida Sans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Font typeface="Lucida Sans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ucida Sans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ucida Sans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ucida Sans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ucida Sans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ucida Sans"/>
              <a:buChar char="»"/>
              <a:defRPr sz="1800"/>
            </a:lvl9pPr>
          </a:lstStyle>
          <a:p/>
        </p:txBody>
      </p:sp>
      <p:sp>
        <p:nvSpPr>
          <p:cNvPr id="73" name="Google Shape;73;p58"/>
          <p:cNvSpPr txBox="1"/>
          <p:nvPr>
            <p:ph idx="2" type="body"/>
          </p:nvPr>
        </p:nvSpPr>
        <p:spPr>
          <a:xfrm>
            <a:off x="4762500" y="1600200"/>
            <a:ext cx="40005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rgbClr val="666699"/>
              </a:buClr>
              <a:buSzPts val="2400"/>
              <a:buFont typeface="Lucida Sans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Lucida Sans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Font typeface="Lucida Sans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ucida Sans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ucida Sans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ucida Sans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ucida Sans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ucida Sans"/>
              <a:buChar char="»"/>
              <a:defRPr sz="1800"/>
            </a:lvl9pPr>
          </a:lstStyle>
          <a:p/>
        </p:txBody>
      </p:sp>
      <p:sp>
        <p:nvSpPr>
          <p:cNvPr id="74" name="Google Shape;74;p58"/>
          <p:cNvSpPr txBox="1"/>
          <p:nvPr>
            <p:ph idx="11" type="ftr"/>
          </p:nvPr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58"/>
          <p:cNvSpPr txBox="1"/>
          <p:nvPr>
            <p:ph idx="12" type="sldNum"/>
          </p:nvPr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Lucida Sans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Font typeface="Lucida Sans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Lucida Sans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666699"/>
              </a:buClr>
              <a:buSzPts val="1400"/>
              <a:buFont typeface="Lucida Sans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Lucida Sans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Lucida Sans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Lucida Sans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Lucida Sans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Lucida Sans"/>
              <a:buNone/>
              <a:defRPr sz="1400"/>
            </a:lvl9pPr>
          </a:lstStyle>
          <a:p/>
        </p:txBody>
      </p:sp>
      <p:sp>
        <p:nvSpPr>
          <p:cNvPr id="79" name="Google Shape;79;p59"/>
          <p:cNvSpPr txBox="1"/>
          <p:nvPr>
            <p:ph idx="11" type="ftr"/>
          </p:nvPr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9"/>
          <p:cNvSpPr txBox="1"/>
          <p:nvPr>
            <p:ph idx="12" type="sldNum"/>
          </p:nvPr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7"/>
          <p:cNvSpPr txBox="1"/>
          <p:nvPr/>
        </p:nvSpPr>
        <p:spPr>
          <a:xfrm>
            <a:off x="6073775" y="6564312"/>
            <a:ext cx="1558925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urier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ISBN </a:t>
            </a:r>
            <a:r>
              <a:rPr b="0" i="0" lang="en-US" sz="1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0-321-49362-1</a:t>
            </a:r>
            <a:endParaRPr/>
          </a:p>
        </p:txBody>
      </p:sp>
      <p:pic>
        <p:nvPicPr>
          <p:cNvPr id="11" name="Google Shape;11;p4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114800" y="0"/>
            <a:ext cx="5029200" cy="6219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47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3" name="Google Shape;13;p47"/>
          <p:cNvSpPr txBox="1"/>
          <p:nvPr>
            <p:ph idx="1" type="body"/>
          </p:nvPr>
        </p:nvSpPr>
        <p:spPr>
          <a:xfrm>
            <a:off x="609600" y="1600200"/>
            <a:ext cx="8153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  <a:defRPr b="0" i="0" sz="2800" u="none" cap="none" strike="noStrik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rgbClr val="666699"/>
              </a:buClr>
              <a:buSzPts val="2400"/>
              <a:buFont typeface="Lucida Sans"/>
              <a:buChar char="–"/>
              <a:defRPr b="0" i="0" sz="24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Lucida Sans"/>
              <a:buChar char="•"/>
              <a:defRPr b="0" i="0" sz="2100" u="none" cap="none" strike="noStrik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Font typeface="Lucida Sans"/>
              <a:buChar char="–"/>
              <a:defRPr b="0" i="0" sz="18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ucida Sans"/>
              <a:buChar char="»"/>
              <a:defRPr b="0" i="0" sz="1800" u="none" cap="none" strike="noStrik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ucida Sans"/>
              <a:buChar char="»"/>
              <a:defRPr b="0" i="0" sz="1800" u="none" cap="none" strike="noStrik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ucida Sans"/>
              <a:buChar char="»"/>
              <a:defRPr b="0" i="0" sz="1800" u="none" cap="none" strike="noStrik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ucida Sans"/>
              <a:buChar char="»"/>
              <a:defRPr b="0" i="0" sz="1800" u="none" cap="none" strike="noStrik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ucida Sans"/>
              <a:buChar char="»"/>
              <a:defRPr b="0" i="0" sz="1800" u="none" cap="none" strike="noStrik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4" name="Google Shape;14;p47"/>
          <p:cNvSpPr txBox="1"/>
          <p:nvPr>
            <p:ph idx="11" type="ftr"/>
          </p:nvPr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15" name="Google Shape;15;p47"/>
          <p:cNvSpPr txBox="1"/>
          <p:nvPr>
            <p:ph idx="12" type="sldNum"/>
          </p:nvPr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1-</a:t>
            </a: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9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23" name="Google Shape;23;p49"/>
          <p:cNvSpPr txBox="1"/>
          <p:nvPr>
            <p:ph idx="1" type="body"/>
          </p:nvPr>
        </p:nvSpPr>
        <p:spPr>
          <a:xfrm>
            <a:off x="609600" y="1600200"/>
            <a:ext cx="8153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  <a:defRPr b="0" i="0" sz="2800" u="none" cap="none" strike="noStrik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rgbClr val="666699"/>
              </a:buClr>
              <a:buSzPts val="2400"/>
              <a:buFont typeface="Lucida Sans"/>
              <a:buChar char="–"/>
              <a:defRPr b="0" i="0" sz="24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Lucida Sans"/>
              <a:buChar char="•"/>
              <a:defRPr b="0" i="0" sz="2100" u="none" cap="none" strike="noStrik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Font typeface="Lucida Sans"/>
              <a:buChar char="–"/>
              <a:defRPr b="0" i="0" sz="18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ucida Sans"/>
              <a:buChar char="»"/>
              <a:defRPr b="0" i="0" sz="1800" u="none" cap="none" strike="noStrik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ucida Sans"/>
              <a:buChar char="»"/>
              <a:defRPr b="0" i="0" sz="1800" u="none" cap="none" strike="noStrik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ucida Sans"/>
              <a:buChar char="»"/>
              <a:defRPr b="0" i="0" sz="1800" u="none" cap="none" strike="noStrik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ucida Sans"/>
              <a:buChar char="»"/>
              <a:defRPr b="0" i="0" sz="1800" u="none" cap="none" strike="noStrik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ucida Sans"/>
              <a:buChar char="»"/>
              <a:defRPr b="0" i="0" sz="1800" u="none" cap="none" strike="noStrik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24" name="Google Shape;24;p49"/>
          <p:cNvSpPr txBox="1"/>
          <p:nvPr>
            <p:ph idx="11" type="ftr"/>
          </p:nvPr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25" name="Google Shape;25;p49"/>
          <p:cNvSpPr txBox="1"/>
          <p:nvPr>
            <p:ph idx="12" type="sldNum"/>
          </p:nvPr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1-</a:t>
            </a: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  <p:cxnSp>
        <p:nvCxnSpPr>
          <p:cNvPr id="26" name="Google Shape;26;p49"/>
          <p:cNvCxnSpPr/>
          <p:nvPr/>
        </p:nvCxnSpPr>
        <p:spPr>
          <a:xfrm>
            <a:off x="609600" y="152400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med" w="med" type="none"/>
            <a:tailEnd len="med" w="med" type="none"/>
          </a:ln>
        </p:spPr>
      </p:cxnSp>
      <p:cxnSp>
        <p:nvCxnSpPr>
          <p:cNvPr id="27" name="Google Shape;27;p49"/>
          <p:cNvCxnSpPr/>
          <p:nvPr/>
        </p:nvCxnSpPr>
        <p:spPr>
          <a:xfrm>
            <a:off x="609600" y="1219200"/>
            <a:ext cx="8153400" cy="0"/>
          </a:xfrm>
          <a:prstGeom prst="straightConnector1">
            <a:avLst/>
          </a:prstGeom>
          <a:noFill/>
          <a:ln cap="flat" cmpd="sng" w="57150">
            <a:solidFill>
              <a:srgbClr val="993300"/>
            </a:solidFill>
            <a:prstDash val="solid"/>
            <a:miter lim="8000"/>
            <a:headEnd len="med" w="med" type="none"/>
            <a:tailEnd len="med" w="med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>
            <p:ph type="ctrTitle"/>
          </p:nvPr>
        </p:nvSpPr>
        <p:spPr>
          <a:xfrm>
            <a:off x="381000" y="1371600"/>
            <a:ext cx="365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Lucida Sans"/>
              <a:buNone/>
            </a:pPr>
            <a:r>
              <a:rPr b="1" i="0" lang="en-US" sz="36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Capítulo 5</a:t>
            </a:r>
            <a:endParaRPr/>
          </a:p>
        </p:txBody>
      </p:sp>
      <p:sp>
        <p:nvSpPr>
          <p:cNvPr id="87" name="Google Shape;87;p1"/>
          <p:cNvSpPr txBox="1"/>
          <p:nvPr>
            <p:ph idx="1" type="subTitle"/>
          </p:nvPr>
        </p:nvSpPr>
        <p:spPr>
          <a:xfrm>
            <a:off x="381000" y="3276600"/>
            <a:ext cx="3657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800"/>
              <a:buFont typeface="Lucida Sans"/>
              <a:buNone/>
            </a:pPr>
            <a:r>
              <a:rPr b="0" i="0" lang="en-US" sz="2800" u="none">
                <a:solidFill>
                  <a:srgbClr val="CC3300"/>
                </a:solidFill>
                <a:latin typeface="Lucida Sans"/>
                <a:ea typeface="Lucida Sans"/>
                <a:cs typeface="Lucida Sans"/>
                <a:sym typeface="Lucida Sans"/>
              </a:rPr>
              <a:t>Nomes, Vinculações e Escopo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94" name="Google Shape;94;p2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95" name="Google Shape;95;p2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Capítulo 5 - Tópicos</a:t>
            </a:r>
            <a:endParaRPr/>
          </a:p>
        </p:txBody>
      </p:sp>
      <p:sp>
        <p:nvSpPr>
          <p:cNvPr id="96" name="Google Shape;96;p2"/>
          <p:cNvSpPr txBox="1"/>
          <p:nvPr>
            <p:ph idx="1" type="body"/>
          </p:nvPr>
        </p:nvSpPr>
        <p:spPr>
          <a:xfrm>
            <a:off x="609600" y="1600200"/>
            <a:ext cx="8153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33400" lvl="0" marL="533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•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Introdução</a:t>
            </a:r>
            <a:endParaRPr/>
          </a:p>
          <a:p>
            <a:pPr indent="-533400" lvl="0" marL="5334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•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Nomes</a:t>
            </a:r>
            <a:endParaRPr/>
          </a:p>
          <a:p>
            <a:pPr indent="-533400" lvl="0" marL="5334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•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Variáveis</a:t>
            </a:r>
            <a:endParaRPr/>
          </a:p>
          <a:p>
            <a:pPr indent="-533400" lvl="0" marL="5334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•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O conceito de vinculação</a:t>
            </a:r>
            <a:endParaRPr/>
          </a:p>
          <a:p>
            <a:pPr indent="-533400" lvl="0" marL="5334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•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Escopo</a:t>
            </a:r>
            <a:endParaRPr/>
          </a:p>
          <a:p>
            <a:pPr indent="-533400" lvl="0" marL="5334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•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Escopo e tempo de vida</a:t>
            </a:r>
            <a:endParaRPr/>
          </a:p>
          <a:p>
            <a:pPr indent="-533400" lvl="0" marL="5334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•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Ambientes de referenciamento</a:t>
            </a:r>
            <a:endParaRPr/>
          </a:p>
          <a:p>
            <a:pPr indent="-533400" lvl="0" marL="5334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•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Constantes nomeadas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103" name="Google Shape;103;p3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04" name="Google Shape;104;p3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Introdução</a:t>
            </a:r>
            <a:endParaRPr/>
          </a:p>
        </p:txBody>
      </p:sp>
      <p:sp>
        <p:nvSpPr>
          <p:cNvPr id="105" name="Google Shape;105;p3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Linguagens imperativas são abstrações da arquitetura de von Neumann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66699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Memória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66699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Processador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None/>
            </a:pPr>
            <a:r>
              <a:t/>
            </a:r>
            <a:endParaRPr b="0" i="0" sz="28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Variáveis são caracterizadas pelos atributos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66699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O projeto de um tipo de dado exige considerar o escopo, o tempo de vida, a verificação de tipos, inicialização e compatibilidade de tipos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112" name="Google Shape;112;p4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13" name="Google Shape;113;p4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Nomes</a:t>
            </a:r>
            <a:endParaRPr/>
          </a:p>
        </p:txBody>
      </p:sp>
      <p:sp>
        <p:nvSpPr>
          <p:cNvPr id="114" name="Google Shape;114;p4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Questões de projeto para nomes: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66699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São case sensitive?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66699"/>
              </a:buClr>
              <a:buSzPts val="2400"/>
              <a:buFont typeface="Lucida Sans"/>
              <a:buNone/>
            </a:pPr>
            <a:r>
              <a:t/>
            </a:r>
            <a:endParaRPr b="0" i="0" sz="2400" u="none">
              <a:solidFill>
                <a:srgbClr val="666699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66699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As palavras especiais da linguagem são palavras reservadas ou palavras base?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121" name="Google Shape;121;p5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22" name="Google Shape;122;p5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Nomes</a:t>
            </a:r>
            <a:endParaRPr/>
          </a:p>
        </p:txBody>
      </p:sp>
      <p:sp>
        <p:nvSpPr>
          <p:cNvPr id="123" name="Google Shape;123;p5"/>
          <p:cNvSpPr txBox="1"/>
          <p:nvPr>
            <p:ph idx="1" type="body"/>
          </p:nvPr>
        </p:nvSpPr>
        <p:spPr>
          <a:xfrm>
            <a:off x="665162" y="1620837"/>
            <a:ext cx="847883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Tamanho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66699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Se for muito curto, não podem ser representativos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66699"/>
              </a:buClr>
              <a:buSzPts val="2400"/>
              <a:buFont typeface="Lucida Sans"/>
              <a:buNone/>
            </a:pPr>
            <a:r>
              <a:t/>
            </a:r>
            <a:endParaRPr b="0" i="0" sz="2400" u="none">
              <a:solidFill>
                <a:srgbClr val="666699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66699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Exemplos de linguagens: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Lucida Sans"/>
              <a:buChar char="•"/>
            </a:pPr>
            <a:r>
              <a:rPr b="0" i="0" lang="en-US" sz="21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C99: não tem limite de tamanho, no entando apenas os 63 primeiros caracteres são significantes. Nomes externos estão limitados a 31 caracteres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Lucida Sans"/>
              <a:buChar char="•"/>
            </a:pPr>
            <a:r>
              <a:rPr b="0" i="0" lang="en-US" sz="21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C# and Java: não tem limite de tamanho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Lucida Sans"/>
              <a:buChar char="•"/>
            </a:pPr>
            <a:r>
              <a:rPr b="0" i="0" lang="en-US" sz="21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C++: não tem limite de tamanho, embora alguns implementadores limitem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130" name="Google Shape;130;p6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31" name="Google Shape;131;p6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Nomes</a:t>
            </a:r>
            <a:endParaRPr/>
          </a:p>
        </p:txBody>
      </p:sp>
      <p:sp>
        <p:nvSpPr>
          <p:cNvPr id="132" name="Google Shape;132;p6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Palavras especiais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66699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PHP: todos os nomes de variáveis devem começar com $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66699"/>
              </a:buClr>
              <a:buSzPts val="2400"/>
              <a:buFont typeface="Lucida Sans"/>
              <a:buNone/>
            </a:pPr>
            <a:r>
              <a:t/>
            </a:r>
            <a:endParaRPr b="0" i="0" sz="2400" u="none">
              <a:solidFill>
                <a:srgbClr val="666699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66699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Perl: todos nomes de variáveis devem começar com um caracter especial, que especifica o tipo da variável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66699"/>
              </a:buClr>
              <a:buSzPts val="2400"/>
              <a:buFont typeface="Lucida Sans"/>
              <a:buNone/>
            </a:pPr>
            <a:r>
              <a:t/>
            </a:r>
            <a:endParaRPr b="0" i="0" sz="2400" u="none">
              <a:solidFill>
                <a:srgbClr val="666699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66699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Ruby: nomes de variáveis que começam com @ são instâncias e variáveis com @@ são uma variável de uma classe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Nomes</a:t>
            </a:r>
            <a:endParaRPr/>
          </a:p>
        </p:txBody>
      </p:sp>
      <p:sp>
        <p:nvSpPr>
          <p:cNvPr id="138" name="Google Shape;138;p7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ucida Sans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Case sensitives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66699"/>
              </a:buClr>
              <a:buSzPts val="2400"/>
              <a:buFont typeface="Lucida Sans"/>
              <a:buChar char="–"/>
            </a:pPr>
            <a:r>
              <a:rPr b="0" i="0" lang="en-US" sz="24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Desvantagem: legibilidade (nomes parecidos são diferentes)</a:t>
            </a:r>
            <a:endParaRPr/>
          </a:p>
          <a:p>
            <a:pPr indent="-95250" lvl="2" marL="11430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Lucida Sans"/>
              <a:buNone/>
            </a:pPr>
            <a:r>
              <a:t/>
            </a:r>
            <a:endParaRPr b="0" i="0" sz="2100" u="none" cap="none" strike="noStrik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28600" lvl="2" marL="11430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Lucida Sans"/>
              <a:buChar char="•"/>
            </a:pPr>
            <a:r>
              <a:rPr b="0" i="0" lang="en-US" sz="2100" u="none" cap="none" strike="noStrik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Nomes em linguagens baseadas em C são case sensitivos</a:t>
            </a:r>
            <a:endParaRPr/>
          </a:p>
          <a:p>
            <a:pPr indent="-95250" lvl="2" marL="11430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Lucida Sans"/>
              <a:buNone/>
            </a:pPr>
            <a:r>
              <a:t/>
            </a:r>
            <a:endParaRPr b="0" i="0" sz="2100" u="none" cap="none" strike="noStrik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28600" lvl="2" marL="11430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Lucida Sans"/>
              <a:buChar char="•"/>
            </a:pPr>
            <a:r>
              <a:rPr b="0" i="0" lang="en-US" sz="2100" u="none" cap="none" strike="noStrik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Nomes em outras linguagens não</a:t>
            </a:r>
            <a:endParaRPr/>
          </a:p>
          <a:p>
            <a:pPr indent="-95250" lvl="2" marL="11430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Lucida Sans"/>
              <a:buNone/>
            </a:pPr>
            <a:r>
              <a:t/>
            </a:r>
            <a:endParaRPr b="0" i="0" sz="2100" u="none" cap="none" strike="noStrik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28600" lvl="2" marL="11430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Lucida Sans"/>
              <a:buChar char="•"/>
            </a:pPr>
            <a:r>
              <a:rPr b="0" i="0" lang="en-US" sz="2100" u="none" cap="none" strike="noStrik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Os Nomes em C++, Java, e C#  já são previamente definidos usando maiúsculas e minúsculas, como por exemplo </a:t>
            </a:r>
            <a:r>
              <a:rPr b="0" i="0" lang="en-US" sz="21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IndexOutOfBoundsException</a:t>
            </a:r>
            <a:r>
              <a:rPr b="0" i="0" lang="en-US" sz="2100" u="none" cap="none" strike="noStrik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/>
          </a:p>
          <a:p>
            <a:pPr indent="-209550" lvl="0" marL="342900" marR="0" rtl="0" algn="l"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Lucida Sans"/>
              <a:buNone/>
            </a:pPr>
            <a:r>
              <a:t/>
            </a:r>
            <a:endParaRPr b="0" i="0" sz="2100" u="none" cap="none" strike="noStrik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39" name="Google Shape;139;p7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140" name="Google Shape;140;p7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147" name="Google Shape;147;p8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48" name="Google Shape;148;p8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Nomes</a:t>
            </a:r>
            <a:endParaRPr/>
          </a:p>
        </p:txBody>
      </p:sp>
      <p:sp>
        <p:nvSpPr>
          <p:cNvPr id="149" name="Google Shape;149;p8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Palavras especiais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666699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Auxilia a legibilidade, usada para delimitar ou separar sentenças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666699"/>
              </a:buClr>
              <a:buSzPts val="2400"/>
              <a:buFont typeface="Lucida Sans"/>
              <a:buChar char="-"/>
            </a:pPr>
            <a:r>
              <a:rPr b="0" i="0" lang="en-US" sz="24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Uma palavra chave é uma palavra especial em certos contextos</a:t>
            </a:r>
            <a:r>
              <a:rPr b="0" i="1" lang="en-US" sz="1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	                                                     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666699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Uma palavra reservada é uma palavra especial que não pode ser usada como nome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666699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Problema potencial com palavras reservadas: se tem muitas ocorrências (COBOL tem 300 palavras reservadas)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156" name="Google Shape;156;p9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57" name="Google Shape;157;p9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Variáveis</a:t>
            </a:r>
            <a:endParaRPr/>
          </a:p>
        </p:txBody>
      </p:sp>
      <p:sp>
        <p:nvSpPr>
          <p:cNvPr id="158" name="Google Shape;158;p9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Uma variável é uma abstração de uma célula de memória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Variáveis podem ser caracterizadas como uma sextupla com os seguinte atributos: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66699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Nome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66699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Endereço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66699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Valor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66699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Tipo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66699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Tempo de vida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66699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Escopo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165" name="Google Shape;165;p10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66" name="Google Shape;166;p10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Atributos das variáveis</a:t>
            </a:r>
            <a:endParaRPr/>
          </a:p>
        </p:txBody>
      </p:sp>
      <p:sp>
        <p:nvSpPr>
          <p:cNvPr id="167" name="Google Shape;167;p10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ucida Sans"/>
              <a:buChar char="•"/>
            </a:pPr>
            <a:r>
              <a:rPr b="0" i="0" lang="en-US" sz="2400" u="non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Nome </a:t>
            </a: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- nem todas as variáveis tem nomes</a:t>
            </a:r>
            <a:endParaRPr/>
          </a:p>
          <a:p>
            <a:pPr indent="-1905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t/>
            </a:r>
            <a:endParaRPr b="0" i="0" sz="24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•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C++ usa na criação e uso de ponteiros (implicitamente)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174" name="Google Shape;174;p11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75" name="Google Shape;175;p11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ucida Sans"/>
              <a:buChar char="•"/>
            </a:pPr>
            <a:r>
              <a:rPr b="0" i="0" lang="en-US" sz="2400" u="non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Endereços</a:t>
            </a: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- endereço da memória associado com a variável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666699"/>
              </a:buClr>
              <a:buSzPts val="2000"/>
              <a:buFont typeface="Lucida Sans"/>
              <a:buChar char="–"/>
            </a:pPr>
            <a:r>
              <a:rPr b="0" i="0" lang="en-US" sz="20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Uma variável pode ter diferentes endereços em diferentes pontos de execução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666699"/>
              </a:buClr>
              <a:buSzPts val="2000"/>
              <a:buFont typeface="Lucida Sans"/>
              <a:buChar char="–"/>
            </a:pPr>
            <a:r>
              <a:rPr b="0" i="0" lang="en-US" sz="20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Uma variável pode ter diferentes endereços em posições diferentes de um programa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666699"/>
              </a:buClr>
              <a:buSzPts val="2000"/>
              <a:buFont typeface="Lucida Sans"/>
              <a:buChar char="–"/>
            </a:pPr>
            <a:r>
              <a:rPr b="0" i="0" lang="en-US" sz="20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Se dois nomes de variáveis podem ser usados para acessar o mesmo local de memória, eles são chamados de apelidos</a:t>
            </a:r>
            <a:endParaRPr b="0" i="0" sz="2000" u="none">
              <a:solidFill>
                <a:schemeClr val="dk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666699"/>
              </a:buClr>
              <a:buSzPts val="2000"/>
              <a:buFont typeface="Lucida Sans"/>
              <a:buChar char="–"/>
            </a:pPr>
            <a:r>
              <a:rPr b="0" i="0" lang="en-US" sz="20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Apelidos são criados por ponteiros, referência de variáveis, uniões em C e C++</a:t>
            </a:r>
            <a:endParaRPr b="0" i="0" sz="2000" u="none">
              <a:solidFill>
                <a:schemeClr val="dk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1333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666699"/>
              </a:buClr>
              <a:buSzPts val="2400"/>
              <a:buFont typeface="Lucida Sans"/>
              <a:buNone/>
            </a:pPr>
            <a:r>
              <a:t/>
            </a:r>
            <a:endParaRPr b="0" i="0" sz="2400" u="none">
              <a:solidFill>
                <a:srgbClr val="666699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666699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Apelidos são prejudiciais para a legibilidade, pois o programador precisa conhecer todos</a:t>
            </a:r>
            <a:endParaRPr/>
          </a:p>
        </p:txBody>
      </p:sp>
      <p:sp>
        <p:nvSpPr>
          <p:cNvPr id="176" name="Google Shape;176;p11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Atributos das variáveis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2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183" name="Google Shape;183;p12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84" name="Google Shape;184;p12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•"/>
            </a:pPr>
            <a:r>
              <a:rPr b="0" i="1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Tipo </a:t>
            </a: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– determina a faixa de valores de uma variável, e o conjunto de operadores que são definidos para o tipo, e nos casos de ponto flutuante, define também a precisão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t/>
            </a:r>
            <a:endParaRPr b="0" i="1" sz="24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•"/>
            </a:pPr>
            <a:r>
              <a:rPr b="0" i="1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Valor</a:t>
            </a: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 – o conteúdo do local da memória associado com a variável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   - Lado esquerdo é endereço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   - Lado direito é valor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t/>
            </a:r>
            <a:endParaRPr b="0" i="1" sz="24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•"/>
            </a:pPr>
            <a:r>
              <a:rPr b="0" i="1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Abstração das células de memória</a:t>
            </a: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 – a célula física ou conjunto de células associados a uma variável</a:t>
            </a:r>
            <a:endParaRPr/>
          </a:p>
        </p:txBody>
      </p:sp>
      <p:sp>
        <p:nvSpPr>
          <p:cNvPr id="185" name="Google Shape;185;p12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Atributos das variáveis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3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192" name="Google Shape;192;p13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93" name="Google Shape;193;p13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O Conceito de Vinculação</a:t>
            </a:r>
            <a:endParaRPr/>
          </a:p>
        </p:txBody>
      </p:sp>
      <p:sp>
        <p:nvSpPr>
          <p:cNvPr id="194" name="Google Shape;194;p13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None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   Vinculação é uma associação entre um atributo e uma entidade, como entre uma variável e seu tipo ou valor, ou entre uma operação e seu símbolo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None/>
            </a:pPr>
            <a:r>
              <a:t/>
            </a:r>
            <a:endParaRPr b="0" i="0" sz="28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1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Tempo de vinculação </a:t>
            </a: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é o momento no qual uma vinculação ocorre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4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201" name="Google Shape;201;p14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02" name="Google Shape;202;p14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Tempos de vinculação</a:t>
            </a:r>
            <a:endParaRPr/>
          </a:p>
        </p:txBody>
      </p:sp>
      <p:sp>
        <p:nvSpPr>
          <p:cNvPr id="203" name="Google Shape;203;p14"/>
          <p:cNvSpPr txBox="1"/>
          <p:nvPr>
            <p:ph idx="1" type="body"/>
          </p:nvPr>
        </p:nvSpPr>
        <p:spPr>
          <a:xfrm>
            <a:off x="533400" y="1447800"/>
            <a:ext cx="8610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Tempo de Projeto da linguagem – </a:t>
            </a: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vincula símbolos de operadores as operações (* para multiplicação)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Tempo de implementação da linguagem </a:t>
            </a: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– vincula um tipo de dado a uma faixa de representação (int em C, float em C)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Tempo de compilação </a:t>
            </a: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– vincula uma variável a um tipo de dados (float soma)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5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210" name="Google Shape;210;p15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11" name="Google Shape;211;p15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Tempos de vinculação</a:t>
            </a:r>
            <a:endParaRPr/>
          </a:p>
        </p:txBody>
      </p:sp>
      <p:sp>
        <p:nvSpPr>
          <p:cNvPr id="212" name="Google Shape;212;p15"/>
          <p:cNvSpPr txBox="1"/>
          <p:nvPr>
            <p:ph idx="1" type="body"/>
          </p:nvPr>
        </p:nvSpPr>
        <p:spPr>
          <a:xfrm>
            <a:off x="533400" y="1447800"/>
            <a:ext cx="8610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Tempo de carga </a:t>
            </a: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– vincula uma variável estática a uma posição de memória)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Tempo de execução </a:t>
            </a: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–vincula uma variável não estática a um local de memória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6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219" name="Google Shape;219;p16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20" name="Google Shape;220;p16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Tempos de vinculação</a:t>
            </a:r>
            <a:endParaRPr/>
          </a:p>
        </p:txBody>
      </p:sp>
      <p:sp>
        <p:nvSpPr>
          <p:cNvPr id="221" name="Google Shape;221;p16"/>
          <p:cNvSpPr txBox="1"/>
          <p:nvPr>
            <p:ph idx="1" type="body"/>
          </p:nvPr>
        </p:nvSpPr>
        <p:spPr>
          <a:xfrm>
            <a:off x="533400" y="1447800"/>
            <a:ext cx="8610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None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	count = count + 5;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None/>
            </a:pPr>
            <a:r>
              <a:t/>
            </a:r>
            <a:endParaRPr b="0" i="0" sz="28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Lucida Sans"/>
              <a:buChar char="•"/>
            </a:pPr>
            <a:r>
              <a:rPr b="0" i="0" lang="en-US" sz="26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Tipo de count vinculado em </a:t>
            </a:r>
            <a:r>
              <a:rPr b="1" i="0" lang="en-US" sz="26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tempo de compilação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Lucida Sans"/>
              <a:buChar char="•"/>
            </a:pPr>
            <a:r>
              <a:rPr b="0" i="0" lang="en-US" sz="26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Conjunto dos valores possíveis de count vinculado em </a:t>
            </a:r>
            <a:r>
              <a:rPr b="1" i="0" lang="en-US" sz="26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tempo de projeto do compilador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Lucida Sans"/>
              <a:buChar char="•"/>
            </a:pPr>
            <a:r>
              <a:rPr b="0" i="0" lang="en-US" sz="26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Significado do símbolo + é vinculado em </a:t>
            </a:r>
            <a:r>
              <a:rPr b="1" i="0" lang="en-US" sz="26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tempo de compilação</a:t>
            </a:r>
            <a:r>
              <a:rPr b="0" i="0" lang="en-US" sz="26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, de acordo com a expressão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Lucida Sans"/>
              <a:buChar char="•"/>
            </a:pPr>
            <a:r>
              <a:rPr b="0" i="0" lang="en-US" sz="26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Representação interna do literal 5 é vinculada ao </a:t>
            </a:r>
            <a:r>
              <a:rPr b="1" i="0" lang="en-US" sz="26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tempo de projeto do compilador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Lucida Sans"/>
              <a:buChar char="•"/>
            </a:pPr>
            <a:r>
              <a:rPr b="0" i="0" lang="en-US" sz="26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Valor de count é vinculado em </a:t>
            </a:r>
            <a:r>
              <a:rPr b="1" i="0" lang="en-US" sz="26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tempo de execução </a:t>
            </a:r>
            <a:r>
              <a:rPr b="0" i="0" lang="en-US" sz="26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 essa sentença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7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228" name="Google Shape;228;p17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29" name="Google Shape;229;p17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Vinculação estática e dinâmica</a:t>
            </a:r>
            <a:endParaRPr/>
          </a:p>
        </p:txBody>
      </p:sp>
      <p:sp>
        <p:nvSpPr>
          <p:cNvPr id="230" name="Google Shape;230;p17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1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Vinculação estática</a:t>
            </a: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 é quando ela ocorre pela primeira vez antes do tempo de execução e permanece inalterada ao longo da execução do programa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None/>
            </a:pPr>
            <a:r>
              <a:t/>
            </a:r>
            <a:endParaRPr b="0" i="0" sz="28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1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Vinculação dinâmica</a:t>
            </a: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 é quando ela ocorre pela primeira vez durante o tempo de execução ou pode ser mudada ao longo do curso da execução do programa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8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237" name="Google Shape;237;p18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38" name="Google Shape;238;p18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Vinculações de tipo</a:t>
            </a:r>
            <a:endParaRPr/>
          </a:p>
        </p:txBody>
      </p:sp>
      <p:sp>
        <p:nvSpPr>
          <p:cNvPr id="239" name="Google Shape;239;p18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Como um tipo é definido?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Quando ocorre a vinculação?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Se a vinculação é estática, o tipo pode ser especificado de forma explícita ou em uma declaração implícita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9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246" name="Google Shape;246;p19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47" name="Google Shape;247;p19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Declaração Explícita/Implícita</a:t>
            </a:r>
            <a:endParaRPr/>
          </a:p>
        </p:txBody>
      </p:sp>
      <p:sp>
        <p:nvSpPr>
          <p:cNvPr id="248" name="Google Shape;248;p19"/>
          <p:cNvSpPr txBox="1"/>
          <p:nvPr>
            <p:ph idx="1" type="body"/>
          </p:nvPr>
        </p:nvSpPr>
        <p:spPr>
          <a:xfrm>
            <a:off x="609600" y="1371600"/>
            <a:ext cx="85344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1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Declaração explícita</a:t>
            </a: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 é uma sentença em um programa que lista nomes de variáveis e especifica que elas são de certo tipo (Pascal)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1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Declaração implícita</a:t>
            </a: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 é uma forma de associar variáveis a tipos por meio de convenções padronizadas, em vez de sentenças de declaração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Basic, Perl, Ruby, JavaScript, e PHP fornecem declarações implícitas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666699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Vantagem: capacidade de escrita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666699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Desvantagem: confiabilidade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0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Algumas linguagens usam inferência de tipo para determinar o tipo das variáveis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66699"/>
              </a:buClr>
              <a:buSzPts val="2400"/>
              <a:buFont typeface="Lucida Sans"/>
              <a:buChar char="–"/>
            </a:pPr>
            <a:r>
              <a:rPr b="0" i="0" lang="en-US" sz="24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C# - uma variável pode ser declarada com var e o seu valor inicial, e este valor determina o seu tipo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66699"/>
              </a:buClr>
              <a:buSzPts val="2400"/>
              <a:buFont typeface="Lucida Sans"/>
              <a:buNone/>
            </a:pPr>
            <a:r>
              <a:t/>
            </a:r>
            <a:endParaRPr b="0" i="0" sz="2400" u="none" cap="none" strike="noStrike">
              <a:solidFill>
                <a:srgbClr val="666699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66699"/>
              </a:buClr>
              <a:buSzPts val="2400"/>
              <a:buFont typeface="Lucida Sans"/>
              <a:buChar char="–"/>
            </a:pPr>
            <a:r>
              <a:rPr b="0" i="0" lang="en-US" sz="24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Visual Basic 9.0+, ML, Haskell, e F# usam inferência de tipos. O contexto da aparição de uma variável determina o seu tipo</a:t>
            </a:r>
            <a:endParaRPr/>
          </a:p>
        </p:txBody>
      </p:sp>
      <p:sp>
        <p:nvSpPr>
          <p:cNvPr id="254" name="Google Shape;254;p20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255" name="Google Shape;255;p20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56" name="Google Shape;256;p20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Declaração Explícita/Implícita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1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263" name="Google Shape;263;p21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64" name="Google Shape;264;p21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Vinculação de Tipos Dinâmica</a:t>
            </a:r>
            <a:endParaRPr/>
          </a:p>
        </p:txBody>
      </p:sp>
      <p:sp>
        <p:nvSpPr>
          <p:cNvPr id="265" name="Google Shape;265;p21"/>
          <p:cNvSpPr txBox="1"/>
          <p:nvPr>
            <p:ph idx="1" type="body"/>
          </p:nvPr>
        </p:nvSpPr>
        <p:spPr>
          <a:xfrm>
            <a:off x="609600" y="1295400"/>
            <a:ext cx="8534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Vinculação de tipos dinâmica (JavaScript, Python, Ruby, PHP, e C# (limitado))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Especificada por meio de uma declaração de atribuição, exemplo em JavaScript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None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		</a:t>
            </a:r>
            <a:r>
              <a:rPr b="0" i="0" lang="en-US" sz="28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list = [2, 4.33, 6, 8];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urier New"/>
              <a:buNone/>
            </a:pPr>
            <a:r>
              <a:rPr b="0" i="0" lang="en-US" sz="28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		list = 17.3;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66699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Vantagem: flexibilidade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66699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Desvantagens: : 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Lucida Sans"/>
              <a:buChar char="•"/>
            </a:pPr>
            <a:r>
              <a:rPr b="0" i="0" lang="en-US" sz="21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Alto custo (verificação de tipos dinâmica e interpretação)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Lucida Sans"/>
              <a:buChar char="•"/>
            </a:pPr>
            <a:r>
              <a:rPr b="0" i="0" lang="en-US" sz="21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Detecção de erros de tipo pelo compilador é mais difícil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2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272" name="Google Shape;272;p22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73" name="Google Shape;273;p22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Atributos das variáveis</a:t>
            </a:r>
            <a:endParaRPr/>
          </a:p>
        </p:txBody>
      </p:sp>
      <p:sp>
        <p:nvSpPr>
          <p:cNvPr id="274" name="Google Shape;274;p22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Vinculações de armazenamento e tempo de vida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Alocação</a:t>
            </a:r>
            <a:r>
              <a:rPr b="0" i="0" lang="en-US" sz="24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 – obter uma célula de memória a partir da memória disponível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Desalocação/liberação</a:t>
            </a:r>
            <a:r>
              <a:rPr b="0" i="0" lang="en-US" sz="24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 – devolver uma célula de memória para a lista de memória disponível</a:t>
            </a:r>
            <a:endParaRPr/>
          </a:p>
          <a:p>
            <a:pPr indent="-1651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None/>
            </a:pPr>
            <a:r>
              <a:t/>
            </a:r>
            <a:endParaRPr b="0" i="0" sz="28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1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O Tempo de Vida de uma variável é aquele durante o qual ela está vinculada a uma posição específica de memória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3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281" name="Google Shape;281;p23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82" name="Google Shape;282;p23"/>
          <p:cNvSpPr txBox="1"/>
          <p:nvPr>
            <p:ph type="title"/>
          </p:nvPr>
        </p:nvSpPr>
        <p:spPr>
          <a:xfrm>
            <a:off x="0" y="15240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Categorias das variáveis de acordo com o tempo de vida</a:t>
            </a:r>
            <a:endParaRPr/>
          </a:p>
        </p:txBody>
      </p:sp>
      <p:sp>
        <p:nvSpPr>
          <p:cNvPr id="283" name="Google Shape;283;p23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Estática</a:t>
            </a:r>
            <a:r>
              <a:rPr b="0" i="0" lang="en-US" sz="2800" u="non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– vincula uma variável a memória antes da execução começar e permanece vinculada a mesma posição durante a execução. C e C++ com as variáveis </a:t>
            </a:r>
            <a:r>
              <a:rPr b="0" i="1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static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Vantagens: </a:t>
            </a:r>
            <a:r>
              <a:rPr b="0" i="0" lang="en-US" sz="24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eficiência (endereçamento direto), não há sobrecarga em tempo de execução para alocar ou desalocar as variáveis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66699"/>
              </a:buClr>
              <a:buSzPts val="2400"/>
              <a:buFont typeface="Lucida Sans"/>
              <a:buNone/>
            </a:pPr>
            <a:r>
              <a:t/>
            </a:r>
            <a:endParaRPr b="0" i="0" sz="2400" u="none">
              <a:solidFill>
                <a:schemeClr val="dk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Desvantagem: </a:t>
            </a:r>
            <a:r>
              <a:rPr b="0" i="0" lang="en-US" sz="24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redução da flexibilidade (linguagem somente com variáveis estáticas não permite o uso de subprogramas recursivos)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4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290" name="Google Shape;290;p24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91" name="Google Shape;291;p24"/>
          <p:cNvSpPr txBox="1"/>
          <p:nvPr>
            <p:ph idx="1" type="body"/>
          </p:nvPr>
        </p:nvSpPr>
        <p:spPr>
          <a:xfrm>
            <a:off x="533400" y="1295400"/>
            <a:ext cx="86106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ucida Sans"/>
              <a:buChar char="•"/>
            </a:pPr>
            <a:r>
              <a:rPr b="1" i="0" lang="en-US" sz="24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Variáveis dinâmica da pilha </a:t>
            </a: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– as vinculações de armazenamento são criadas para as variáveis quando as sentenças de declaração são elaboradas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    (Uma declaração é elaborada quando a execução do código associado com a declaração é executado)</a:t>
            </a:r>
            <a:endParaRPr/>
          </a:p>
          <a:p>
            <a:pPr indent="-1905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t/>
            </a:r>
            <a:endParaRPr b="0" i="0" sz="24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•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Se o dado é escalar, todos os atributos exceto o endereço são vinculados estaticamente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666699"/>
              </a:buClr>
              <a:buSzPts val="2000"/>
              <a:buFont typeface="Lucida Sans"/>
              <a:buChar char="–"/>
            </a:pPr>
            <a:r>
              <a:rPr b="0" i="0" lang="en-US" sz="20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Variáveis locais em subprogramas de C (que não usam static) e métodos em Java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ucida Sans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Vant: </a:t>
            </a: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permite recursão e conserva armazenamento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ucida Sans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Desvantagens: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666699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Sobrecarga de alocação e desalocação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666699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Referências ineficientes (endereçamento indireto)</a:t>
            </a:r>
            <a:endParaRPr/>
          </a:p>
        </p:txBody>
      </p:sp>
      <p:sp>
        <p:nvSpPr>
          <p:cNvPr id="292" name="Google Shape;292;p24"/>
          <p:cNvSpPr txBox="1"/>
          <p:nvPr>
            <p:ph type="title"/>
          </p:nvPr>
        </p:nvSpPr>
        <p:spPr>
          <a:xfrm>
            <a:off x="0" y="15240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Categorias das variáveis de acordo com o tempo de vida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5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299" name="Google Shape;299;p25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00" name="Google Shape;300;p25"/>
          <p:cNvSpPr txBox="1"/>
          <p:nvPr>
            <p:ph idx="1" type="body"/>
          </p:nvPr>
        </p:nvSpPr>
        <p:spPr>
          <a:xfrm>
            <a:off x="457200" y="1371600"/>
            <a:ext cx="86868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ucida Sans"/>
              <a:buChar char="•"/>
            </a:pPr>
            <a:r>
              <a:rPr b="1" i="1" lang="en-US" sz="24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Variáveis dinâmicas de heap </a:t>
            </a:r>
            <a:r>
              <a:rPr b="0" i="1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-  </a:t>
            </a: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Alocadas e desalocadas por instruções explícitas em tempo de execução, escritas pelo programador que tem efeito durante a execução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•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Referenciadas somente por ponteiros ou variáveis de referências. Exemplo: objetos dinâmicos em C++ (new e delete), e todos os objetos em Java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t/>
            </a:r>
            <a:endParaRPr b="0" i="0" sz="2400" u="none">
              <a:solidFill>
                <a:schemeClr val="dk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ucida Sans"/>
              <a:buChar char="•"/>
            </a:pPr>
            <a:r>
              <a:rPr b="0" i="0" lang="en-US" sz="2400" u="non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Vantagem:</a:t>
            </a: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: usadas para criar estruturas de dados dinâmicas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ucida Sans"/>
              <a:buChar char="•"/>
            </a:pPr>
            <a:r>
              <a:rPr b="0" i="0" lang="en-US" sz="2400" u="non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Desvantagem</a:t>
            </a: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: dificuldade de usar e referenciar, e complexidade da implementação</a:t>
            </a:r>
            <a:endParaRPr/>
          </a:p>
        </p:txBody>
      </p:sp>
      <p:sp>
        <p:nvSpPr>
          <p:cNvPr id="301" name="Google Shape;301;p25"/>
          <p:cNvSpPr txBox="1"/>
          <p:nvPr>
            <p:ph type="title"/>
          </p:nvPr>
        </p:nvSpPr>
        <p:spPr>
          <a:xfrm>
            <a:off x="0" y="15240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Categorias das variáveis de acordo com o tempo de vida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6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308" name="Google Shape;308;p26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09" name="Google Shape;309;p26"/>
          <p:cNvSpPr txBox="1"/>
          <p:nvPr>
            <p:ph idx="1" type="body"/>
          </p:nvPr>
        </p:nvSpPr>
        <p:spPr>
          <a:xfrm>
            <a:off x="381000" y="1524000"/>
            <a:ext cx="87630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ucida Sans"/>
              <a:buChar char="•"/>
            </a:pPr>
            <a:r>
              <a:rPr b="1" i="1" lang="en-US" sz="28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Variáveis dinâmicas de heap implícito </a:t>
            </a: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–Alocação e desalocação causadas por sentenças de atribuição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66699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Todas as variáveis em APL; todas as string e arrays em Perl, JavaScript, e PHP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Vantagem</a:t>
            </a: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: flexibilidade (código genérico)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Desvantagens:</a:t>
            </a:r>
            <a:endParaRPr b="0" i="0" sz="28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66699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Ineficiente, pois todos os atributos são dinâmicos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66699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Perda de detecção de erros pelo compilador</a:t>
            </a:r>
            <a:endParaRPr/>
          </a:p>
        </p:txBody>
      </p:sp>
      <p:sp>
        <p:nvSpPr>
          <p:cNvPr id="310" name="Google Shape;310;p26"/>
          <p:cNvSpPr txBox="1"/>
          <p:nvPr>
            <p:ph type="title"/>
          </p:nvPr>
        </p:nvSpPr>
        <p:spPr>
          <a:xfrm>
            <a:off x="0" y="15240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Categorias das variáveis de acordo com o tempo de vida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7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317" name="Google Shape;317;p27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18" name="Google Shape;318;p27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Atributos das variáveis: Escopo</a:t>
            </a:r>
            <a:endParaRPr/>
          </a:p>
        </p:txBody>
      </p:sp>
      <p:sp>
        <p:nvSpPr>
          <p:cNvPr id="319" name="Google Shape;319;p27"/>
          <p:cNvSpPr txBox="1"/>
          <p:nvPr>
            <p:ph idx="1" type="body"/>
          </p:nvPr>
        </p:nvSpPr>
        <p:spPr>
          <a:xfrm>
            <a:off x="457200" y="1524000"/>
            <a:ext cx="86868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•"/>
            </a:pPr>
            <a:r>
              <a:rPr b="1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O Escopo de uma variável é a faixa de sentenças na qual ela é visível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•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Uma </a:t>
            </a:r>
            <a:r>
              <a:rPr b="1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variável é local </a:t>
            </a: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 uma unidade ou a um bloco de programa se for declarada lá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•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As </a:t>
            </a:r>
            <a:r>
              <a:rPr b="1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variáveis não locais </a:t>
            </a: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de uma unidade ou bloco de programa são aquelas visíveis dentro da unidade, mas não declarada nessa unidade ou bloco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•"/>
            </a:pPr>
            <a:r>
              <a:rPr b="1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Variáveis globais </a:t>
            </a: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são uma categoria especial de variáveis não locais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•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As regras de escopo de uma linguagem determinam como as referências aos nomes são associadas as variáveis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8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326" name="Google Shape;326;p28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27" name="Google Shape;327;p28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200"/>
              <a:buFont typeface="Lucida Sans"/>
              <a:buNone/>
            </a:pPr>
            <a:r>
              <a:rPr b="0" i="0" lang="en-US" sz="32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Escopo estático</a:t>
            </a:r>
            <a:br>
              <a:rPr b="0" i="0" lang="en-US" sz="32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</a:br>
            <a:endParaRPr/>
          </a:p>
        </p:txBody>
      </p:sp>
      <p:sp>
        <p:nvSpPr>
          <p:cNvPr id="328" name="Google Shape;328;p28"/>
          <p:cNvSpPr txBox="1"/>
          <p:nvPr>
            <p:ph idx="1" type="body"/>
          </p:nvPr>
        </p:nvSpPr>
        <p:spPr>
          <a:xfrm>
            <a:off x="533400" y="1371600"/>
            <a:ext cx="8610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•"/>
            </a:pPr>
            <a:r>
              <a:rPr b="1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É assim chamado pois o escopo pode ser determinado estaticamente, antes da execução, apenas examinando o código fonte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•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Para conectar a referência do nome, a uma variável, o compilador precisa encontrar a declaração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ucida Sans"/>
              <a:buChar char="•"/>
            </a:pPr>
            <a:r>
              <a:rPr b="0" i="1" lang="en-US" sz="2400" u="non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Processo de busca</a:t>
            </a: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: procura primeiro localmente, depois vai aumentando o escopo, até encontrar o nome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•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Busca no pai estático, e nos ancestrais estáticos de um bloco ou funcão</a:t>
            </a:r>
            <a:endParaRPr b="0" i="1" sz="2400" u="none">
              <a:solidFill>
                <a:schemeClr val="dk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•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Ada, JavaScript, Common Lisp, Scheme, Fortran 2003+, F#, e Python permitem subprogramas aninhados, mas as linguagens baseadas em C não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t/>
            </a:r>
            <a:endParaRPr b="0" i="0" sz="24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9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335" name="Google Shape;335;p29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36" name="Google Shape;336;p29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200"/>
              <a:buFont typeface="Lucida Sans"/>
              <a:buNone/>
            </a:pPr>
            <a:r>
              <a:rPr b="0" i="0" lang="en-US" sz="32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Escopo estático</a:t>
            </a:r>
            <a:br>
              <a:rPr b="0" i="0" lang="en-US" sz="32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</a:br>
            <a:endParaRPr/>
          </a:p>
        </p:txBody>
      </p:sp>
      <p:sp>
        <p:nvSpPr>
          <p:cNvPr id="337" name="Google Shape;337;p29"/>
          <p:cNvSpPr txBox="1"/>
          <p:nvPr>
            <p:ph idx="1" type="body"/>
          </p:nvPr>
        </p:nvSpPr>
        <p:spPr>
          <a:xfrm>
            <a:off x="533400" y="1371600"/>
            <a:ext cx="8610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•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Exemplo em JavaScript</a:t>
            </a:r>
            <a:endParaRPr/>
          </a:p>
          <a:p>
            <a:pPr indent="-1905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t/>
            </a:r>
            <a:endParaRPr b="0" i="0" sz="24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•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x em sub2( ) tem qual valor?</a:t>
            </a:r>
            <a:endParaRPr/>
          </a:p>
          <a:p>
            <a:pPr indent="-1905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t/>
            </a:r>
            <a:endParaRPr b="0" i="0" sz="24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•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Busca começa em sub2( )</a:t>
            </a:r>
            <a:endParaRPr/>
          </a:p>
          <a:p>
            <a:pPr indent="-1905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t/>
            </a:r>
            <a:endParaRPr b="0" i="0" sz="24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•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Depois vai para big( )</a:t>
            </a:r>
            <a:endParaRPr/>
          </a:p>
          <a:p>
            <a:pPr indent="-1905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t/>
            </a:r>
            <a:endParaRPr b="0" i="0" sz="24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•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Encontra em big( )</a:t>
            </a:r>
            <a:endParaRPr/>
          </a:p>
          <a:p>
            <a:pPr indent="-1905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t/>
            </a:r>
            <a:endParaRPr b="0" i="0" sz="24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•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Se não encontrasse, é um erro de variável não declarada</a:t>
            </a:r>
            <a:endParaRPr/>
          </a:p>
        </p:txBody>
      </p:sp>
      <p:pic>
        <p:nvPicPr>
          <p:cNvPr id="338" name="Google Shape;33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1371600"/>
            <a:ext cx="3368675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0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345" name="Google Shape;345;p30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46" name="Google Shape;346;p30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Escopo</a:t>
            </a:r>
            <a:endParaRPr/>
          </a:p>
        </p:txBody>
      </p:sp>
      <p:sp>
        <p:nvSpPr>
          <p:cNvPr id="347" name="Google Shape;347;p30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Variáveis podem estar escondidas de um bloco ou uma unidade por ter uma variável </a:t>
            </a:r>
            <a:r>
              <a:rPr b="1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próxima</a:t>
            </a: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 com o mesmo nome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1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354" name="Google Shape;354;p31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55" name="Google Shape;355;p31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200"/>
              <a:buFont typeface="Lucida Sans"/>
              <a:buNone/>
            </a:pPr>
            <a:r>
              <a:rPr b="0" i="0" lang="en-US" sz="32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Blocos</a:t>
            </a:r>
            <a:br>
              <a:rPr b="0" i="0" lang="en-US" sz="32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</a:br>
            <a:endParaRPr/>
          </a:p>
        </p:txBody>
      </p:sp>
      <p:sp>
        <p:nvSpPr>
          <p:cNvPr id="356" name="Google Shape;356;p31"/>
          <p:cNvSpPr txBox="1"/>
          <p:nvPr>
            <p:ph idx="1" type="body"/>
          </p:nvPr>
        </p:nvSpPr>
        <p:spPr>
          <a:xfrm>
            <a:off x="457200" y="1371600"/>
            <a:ext cx="86868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2000"/>
              <a:buFont typeface="Lucida Sans"/>
              <a:buChar char="–"/>
            </a:pPr>
            <a:r>
              <a:rPr b="0" i="0" lang="en-US" sz="20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Um método de criar escopo estático dentro de uma unidade de um programa é usar:</a:t>
            </a:r>
            <a:endParaRPr/>
          </a:p>
          <a:p>
            <a:pPr indent="-158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6699"/>
              </a:buClr>
              <a:buSzPts val="2000"/>
              <a:buFont typeface="Lucida Sans"/>
              <a:buNone/>
            </a:pPr>
            <a:r>
              <a:t/>
            </a:r>
            <a:endParaRPr b="0" i="0" sz="2000" u="none">
              <a:solidFill>
                <a:srgbClr val="666699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6699"/>
              </a:buClr>
              <a:buSzPts val="2000"/>
              <a:buFont typeface="Lucida Sans"/>
              <a:buChar char="–"/>
            </a:pPr>
            <a:r>
              <a:rPr b="0" i="0" lang="en-US" sz="20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Exemplo em C: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Lucida Sans"/>
              <a:buNone/>
            </a:pPr>
            <a:r>
              <a:t/>
            </a:r>
            <a:endParaRPr b="0" i="0" sz="1400" u="none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ourier New"/>
              <a:buNone/>
            </a:pPr>
            <a:r>
              <a:rPr b="0" i="0" lang="en-US" sz="14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void sub() {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ourier New"/>
              <a:buNone/>
            </a:pPr>
            <a:r>
              <a:rPr b="0" i="0" lang="en-US" sz="14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int count;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ourier New"/>
              <a:buNone/>
            </a:pPr>
            <a:r>
              <a:rPr b="0" i="0" lang="en-US" sz="14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while (...) {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ourier New"/>
              <a:buNone/>
            </a:pPr>
            <a:r>
              <a:rPr b="0" i="0" lang="en-US" sz="14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		      int count;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ourier New"/>
              <a:buNone/>
            </a:pPr>
            <a:r>
              <a:rPr b="0" i="0" lang="en-US" sz="14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count++;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ourier New"/>
              <a:buNone/>
            </a:pPr>
            <a:r>
              <a:rPr b="0" i="0" lang="en-US" sz="14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...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ourier New"/>
              <a:buNone/>
            </a:pPr>
            <a:r>
              <a:rPr b="0" i="0" lang="en-US" sz="14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}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ourier New"/>
              <a:buNone/>
            </a:pPr>
            <a:r>
              <a:rPr b="0" i="0" lang="en-US" sz="14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…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ourier New"/>
              <a:buNone/>
            </a:pPr>
            <a:r>
              <a:rPr b="0" i="0" lang="en-US" sz="14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}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urier New"/>
              <a:buNone/>
            </a:pPr>
            <a:r>
              <a:rPr b="0" i="0" lang="en-US" sz="24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     </a:t>
            </a:r>
            <a:r>
              <a:rPr b="0" i="0" lang="en-US" sz="20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- Esse código é válido em C e C++, mas inválido em Java e C#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2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Ordem de declaração</a:t>
            </a:r>
            <a:endParaRPr/>
          </a:p>
        </p:txBody>
      </p:sp>
      <p:sp>
        <p:nvSpPr>
          <p:cNvPr id="362" name="Google Shape;362;p32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C99, C++, Java, e C# permitem declarações de variáveis aparecer em qualquer lugar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66699"/>
              </a:buClr>
              <a:buSzPts val="2400"/>
              <a:buFont typeface="Lucida Sans"/>
              <a:buChar char="–"/>
            </a:pPr>
            <a:r>
              <a:rPr b="0" i="0" lang="en-US" sz="24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C99, C++, e Java, o escopo de todas as variáveis locais abarca desde suas declarações até o final dos blocos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66699"/>
              </a:buClr>
              <a:buSzPts val="2400"/>
              <a:buFont typeface="Lucida Sans"/>
              <a:buChar char="–"/>
            </a:pPr>
            <a:r>
              <a:rPr b="0" i="0" lang="en-US" sz="24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Em C#, o escopo de quaisquer variáveis declaradas em um bloco é o bloco inteiro, independente da posição da declaração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Lucida Sans"/>
              <a:buChar char="•"/>
            </a:pPr>
            <a:r>
              <a:rPr b="0" i="0" lang="en-US" sz="2100" u="none" cap="none" strike="noStrik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Entretanto, uma variável ainda precisa ser declarada antes de ser usada</a:t>
            </a:r>
            <a:endParaRPr/>
          </a:p>
        </p:txBody>
      </p:sp>
      <p:sp>
        <p:nvSpPr>
          <p:cNvPr id="363" name="Google Shape;363;p32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364" name="Google Shape;364;p32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3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Ordem de declaração</a:t>
            </a:r>
            <a:endParaRPr/>
          </a:p>
        </p:txBody>
      </p:sp>
      <p:sp>
        <p:nvSpPr>
          <p:cNvPr id="370" name="Google Shape;370;p33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Em C++, Java, e C#, variáveis podem ser declaradas dentro de sentenças </a:t>
            </a:r>
            <a:r>
              <a:rPr b="0" i="0" lang="en-US" sz="24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endParaRPr b="0" i="0" sz="28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66699"/>
              </a:buClr>
              <a:buSzPts val="2400"/>
              <a:buFont typeface="Lucida Sans"/>
              <a:buChar char="–"/>
            </a:pPr>
            <a:r>
              <a:rPr b="0" i="0" lang="en-US" sz="24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O escopo de tais variáveis é restrito ao for</a:t>
            </a:r>
            <a:endParaRPr/>
          </a:p>
        </p:txBody>
      </p:sp>
      <p:sp>
        <p:nvSpPr>
          <p:cNvPr id="371" name="Google Shape;371;p33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372" name="Google Shape;372;p33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4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Escopo global</a:t>
            </a:r>
            <a:endParaRPr/>
          </a:p>
        </p:txBody>
      </p:sp>
      <p:sp>
        <p:nvSpPr>
          <p:cNvPr id="378" name="Google Shape;378;p34"/>
          <p:cNvSpPr txBox="1"/>
          <p:nvPr>
            <p:ph idx="1" type="body"/>
          </p:nvPr>
        </p:nvSpPr>
        <p:spPr>
          <a:xfrm>
            <a:off x="609600" y="1524000"/>
            <a:ext cx="8534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C, C++, PHP, e Python permitem uma estrutura de programa que é uma sequencia de definições de funções, nas quais as definições de variáveis podem aparecer for a das funções</a:t>
            </a:r>
            <a:endParaRPr/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None/>
            </a:pPr>
            <a:r>
              <a:t/>
            </a:r>
            <a:endParaRPr b="0" i="0" sz="28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C e C++ tem ambas declarações (tipos e atributos) e definição de dados (alocação e armazenamento)</a:t>
            </a:r>
            <a:endParaRPr/>
          </a:p>
        </p:txBody>
      </p:sp>
      <p:sp>
        <p:nvSpPr>
          <p:cNvPr id="379" name="Google Shape;379;p34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380" name="Google Shape;380;p34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5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Escopo global</a:t>
            </a:r>
            <a:endParaRPr/>
          </a:p>
        </p:txBody>
      </p:sp>
      <p:sp>
        <p:nvSpPr>
          <p:cNvPr id="386" name="Google Shape;386;p35"/>
          <p:cNvSpPr txBox="1"/>
          <p:nvPr>
            <p:ph idx="1" type="body"/>
          </p:nvPr>
        </p:nvSpPr>
        <p:spPr>
          <a:xfrm>
            <a:off x="609600" y="1600200"/>
            <a:ext cx="8153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PHP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66699"/>
              </a:buClr>
              <a:buSzPts val="2400"/>
              <a:buFont typeface="Lucida Sans"/>
              <a:buChar char="–"/>
            </a:pPr>
            <a:r>
              <a:rPr b="0" i="0" lang="en-US" sz="24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Programs are embedded in HTML markup documents, in any number of fragments, some statements and some function definitions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66699"/>
              </a:buClr>
              <a:buSzPts val="2400"/>
              <a:buFont typeface="Lucida Sans"/>
              <a:buChar char="–"/>
            </a:pPr>
            <a:r>
              <a:rPr b="0" i="0" lang="en-US" sz="24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The scope of a variable (implicitly) declared in a function is local to the function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66699"/>
              </a:buClr>
              <a:buSzPts val="2400"/>
              <a:buFont typeface="Lucida Sans"/>
              <a:buChar char="–"/>
            </a:pPr>
            <a:r>
              <a:rPr b="0" i="0" lang="en-US" sz="24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The scope of a variable implicitly declared outside functions is from the declaration to the end of the program, but skips over any intervening functions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Lucida Sans"/>
              <a:buChar char="•"/>
            </a:pPr>
            <a:r>
              <a:rPr b="0" i="0" lang="en-US" sz="2100" u="none" cap="none" strike="noStrik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Global variables can be accessed in a function through the </a:t>
            </a:r>
            <a:r>
              <a:rPr b="0" i="0" lang="en-US" sz="18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$GLOBALS</a:t>
            </a:r>
            <a:r>
              <a:rPr b="0" i="0" lang="en-US" sz="2100" u="none" cap="none" strike="noStrik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 array or by declaring it </a:t>
            </a:r>
            <a:r>
              <a:rPr b="0" i="0" lang="en-US" sz="18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global</a:t>
            </a:r>
            <a:endParaRPr/>
          </a:p>
        </p:txBody>
      </p:sp>
      <p:sp>
        <p:nvSpPr>
          <p:cNvPr id="387" name="Google Shape;387;p35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388" name="Google Shape;388;p35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6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Global Scope </a:t>
            </a:r>
            <a:r>
              <a:rPr b="0" i="0" lang="en-US" sz="28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(continued)</a:t>
            </a:r>
            <a:endParaRPr/>
          </a:p>
        </p:txBody>
      </p:sp>
      <p:sp>
        <p:nvSpPr>
          <p:cNvPr id="394" name="Google Shape;394;p36"/>
          <p:cNvSpPr txBox="1"/>
          <p:nvPr>
            <p:ph idx="1" type="body"/>
          </p:nvPr>
        </p:nvSpPr>
        <p:spPr>
          <a:xfrm>
            <a:off x="609600" y="1600200"/>
            <a:ext cx="8153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Python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66699"/>
              </a:buClr>
              <a:buSzPts val="2400"/>
              <a:buFont typeface="Lucida Sans"/>
              <a:buChar char="–"/>
            </a:pPr>
            <a:r>
              <a:rPr b="0" i="0" lang="en-US" sz="24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A global variable can be referenced in functions, but can be assigned in a function only if it has been declared to be </a:t>
            </a:r>
            <a:r>
              <a:rPr b="0" i="0" lang="en-US" sz="2000" u="none" cap="none" strike="noStrike">
                <a:solidFill>
                  <a:srgbClr val="666699"/>
                </a:solidFill>
                <a:latin typeface="Courier New"/>
                <a:ea typeface="Courier New"/>
                <a:cs typeface="Courier New"/>
                <a:sym typeface="Courier New"/>
              </a:rPr>
              <a:t>global</a:t>
            </a:r>
            <a:r>
              <a:rPr b="0" i="0" lang="en-US" sz="24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 in the function</a:t>
            </a:r>
            <a:endParaRPr/>
          </a:p>
        </p:txBody>
      </p:sp>
      <p:sp>
        <p:nvSpPr>
          <p:cNvPr id="395" name="Google Shape;395;p36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396" name="Google Shape;396;p36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7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403" name="Google Shape;403;p37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04" name="Google Shape;404;p37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200"/>
              <a:buFont typeface="Lucida Sans"/>
              <a:buNone/>
            </a:pPr>
            <a:r>
              <a:rPr b="0" i="0" lang="en-US" sz="32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Avaliação do Escopo Estático</a:t>
            </a:r>
            <a:br>
              <a:rPr b="0" i="0" lang="en-US" sz="32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</a:br>
            <a:endParaRPr/>
          </a:p>
        </p:txBody>
      </p:sp>
      <p:sp>
        <p:nvSpPr>
          <p:cNvPr id="405" name="Google Shape;405;p37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Funciona bem em muitas situações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None/>
            </a:pPr>
            <a:r>
              <a:t/>
            </a:r>
            <a:endParaRPr b="0" i="0" sz="28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Problemas: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66699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Em muitos casos, mais acessos que o necessário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66699"/>
              </a:buClr>
              <a:buSzPts val="2400"/>
              <a:buFont typeface="Lucida Sans"/>
              <a:buNone/>
            </a:pPr>
            <a:r>
              <a:t/>
            </a:r>
            <a:endParaRPr b="0" i="0" sz="2400" u="none">
              <a:solidFill>
                <a:srgbClr val="666699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66699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A medida que um programa evolui, a estrutura inicial é destruída e variáveis locais geralmente se tornam globais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8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412" name="Google Shape;412;p38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13" name="Google Shape;413;p38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200"/>
              <a:buFont typeface="Lucida Sans"/>
              <a:buNone/>
            </a:pPr>
            <a:r>
              <a:rPr b="0" i="0" lang="en-US" sz="32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Escopo Dinâmico</a:t>
            </a:r>
            <a:br>
              <a:rPr b="0" i="0" lang="en-US" sz="32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</a:br>
            <a:endParaRPr/>
          </a:p>
        </p:txBody>
      </p:sp>
      <p:sp>
        <p:nvSpPr>
          <p:cNvPr id="414" name="Google Shape;414;p38"/>
          <p:cNvSpPr txBox="1"/>
          <p:nvPr>
            <p:ph idx="1" type="body"/>
          </p:nvPr>
        </p:nvSpPr>
        <p:spPr>
          <a:xfrm>
            <a:off x="609600" y="12954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1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Baseado na sequencia de chamada de subprogramas, ao invés do relacionamento espacial uns com outros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None/>
            </a:pPr>
            <a:r>
              <a:t/>
            </a:r>
            <a:endParaRPr b="0" i="0" sz="28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Referências para as variáveis são conectadas as declarações analisando a cadeia de subprogramas que foram executadas até este ponto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9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421" name="Google Shape;421;p39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22" name="Google Shape;422;p39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Escopo - Exemplo</a:t>
            </a:r>
            <a:endParaRPr/>
          </a:p>
        </p:txBody>
      </p:sp>
      <p:sp>
        <p:nvSpPr>
          <p:cNvPr id="423" name="Google Shape;423;p39"/>
          <p:cNvSpPr txBox="1"/>
          <p:nvPr>
            <p:ph idx="1" type="body"/>
          </p:nvPr>
        </p:nvSpPr>
        <p:spPr>
          <a:xfrm>
            <a:off x="533400" y="1371600"/>
            <a:ext cx="79248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ourier New"/>
              <a:buNone/>
            </a:pPr>
            <a:r>
              <a:rPr b="1" i="0" lang="en-US" sz="18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function</a:t>
            </a:r>
            <a:r>
              <a:rPr b="0" i="0" lang="en-US" sz="18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big() {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ourier New"/>
              <a:buNone/>
            </a:pPr>
            <a:r>
              <a:rPr b="0" i="0" lang="en-US" sz="18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</a:t>
            </a:r>
            <a:r>
              <a:rPr b="1" i="0" lang="en-US" sz="18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b="0" i="0" lang="en-US" sz="18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sub1()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ourier New"/>
              <a:buNone/>
            </a:pPr>
            <a:r>
              <a:rPr b="0" i="0" lang="en-US" sz="18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</a:t>
            </a:r>
            <a:r>
              <a:rPr b="1" i="0" lang="en-US" sz="18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var</a:t>
            </a:r>
            <a:r>
              <a:rPr b="0" i="0" lang="en-US" sz="18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x = 7;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ourier New"/>
              <a:buNone/>
            </a:pPr>
            <a:r>
              <a:rPr b="0" i="0" lang="en-US" sz="18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</a:t>
            </a:r>
            <a:r>
              <a:rPr b="1" i="0" lang="en-US" sz="18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b="0" i="0" lang="en-US" sz="18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sub2() {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ourier New"/>
              <a:buNone/>
            </a:pPr>
            <a:r>
              <a:rPr b="0" i="0" lang="en-US" sz="18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</a:t>
            </a:r>
            <a:r>
              <a:rPr b="1" i="0" lang="en-US" sz="18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var</a:t>
            </a:r>
            <a:r>
              <a:rPr b="0" i="0" lang="en-US" sz="18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y = x;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ourier New"/>
              <a:buNone/>
            </a:pPr>
            <a:r>
              <a:rPr b="0" i="0" lang="en-US" sz="18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}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ourier New"/>
              <a:buNone/>
            </a:pPr>
            <a:r>
              <a:rPr b="0" i="0" lang="en-US" sz="18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</a:t>
            </a:r>
            <a:r>
              <a:rPr b="1" i="0" lang="en-US" sz="18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var</a:t>
            </a:r>
            <a:r>
              <a:rPr b="0" i="0" lang="en-US" sz="18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x = 3;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ourier New"/>
              <a:buNone/>
            </a:pPr>
            <a:r>
              <a:rPr b="0" i="0" lang="en-US" sz="18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}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ucida Sans"/>
              <a:buNone/>
            </a:pPr>
            <a:r>
              <a:t/>
            </a:r>
            <a:endParaRPr b="0" i="0" sz="1800" u="none">
              <a:solidFill>
                <a:schemeClr val="accen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666699"/>
              </a:buClr>
              <a:buSzPts val="2800"/>
              <a:buFont typeface="Lucida Sans"/>
              <a:buChar char="–"/>
            </a:pPr>
            <a:r>
              <a:rPr b="0" i="0" lang="en-US" sz="28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Escopo Estático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•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Referência para x em </a:t>
            </a:r>
            <a:r>
              <a:rPr b="0" i="0" lang="en-US" sz="24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sub2</a:t>
            </a: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 é para x de big</a:t>
            </a:r>
            <a:endParaRPr b="0" i="0" sz="2400" u="none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666699"/>
              </a:buClr>
              <a:buSzPts val="2800"/>
              <a:buFont typeface="Lucida Sans"/>
              <a:buChar char="–"/>
            </a:pPr>
            <a:r>
              <a:rPr b="0" i="0" lang="en-US" sz="28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Escopo Dinâmico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•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Referência para x em </a:t>
            </a:r>
            <a:r>
              <a:rPr b="0" i="0" lang="en-US" sz="24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sub2</a:t>
            </a: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 é para x de sub1</a:t>
            </a:r>
            <a:endParaRPr/>
          </a:p>
        </p:txBody>
      </p:sp>
      <p:sp>
        <p:nvSpPr>
          <p:cNvPr id="424" name="Google Shape;424;p39"/>
          <p:cNvSpPr txBox="1"/>
          <p:nvPr/>
        </p:nvSpPr>
        <p:spPr>
          <a:xfrm>
            <a:off x="2701925" y="5246687"/>
            <a:ext cx="222250" cy="312737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47625" spcFirstLastPara="1" rIns="47625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endParaRPr/>
          </a:p>
        </p:txBody>
      </p:sp>
      <p:sp>
        <p:nvSpPr>
          <p:cNvPr id="425" name="Google Shape;425;p39"/>
          <p:cNvSpPr txBox="1"/>
          <p:nvPr/>
        </p:nvSpPr>
        <p:spPr>
          <a:xfrm>
            <a:off x="6510337" y="1382712"/>
            <a:ext cx="2252662" cy="178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big chama sub1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sub1 chama sub2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sub2 usa x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0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432" name="Google Shape;432;p40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33" name="Google Shape;433;p40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Avaliação do Escopo Dinâmico</a:t>
            </a:r>
            <a:endParaRPr/>
          </a:p>
        </p:txBody>
      </p:sp>
      <p:sp>
        <p:nvSpPr>
          <p:cNvPr id="434" name="Google Shape;434;p40"/>
          <p:cNvSpPr txBox="1"/>
          <p:nvPr>
            <p:ph idx="1" type="body"/>
          </p:nvPr>
        </p:nvSpPr>
        <p:spPr>
          <a:xfrm>
            <a:off x="609600" y="1371600"/>
            <a:ext cx="81534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Vantagem: conveniência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None/>
            </a:pPr>
            <a:r>
              <a:t/>
            </a:r>
            <a:endParaRPr b="0" i="1" sz="28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Desvantagens</a:t>
            </a:r>
            <a:endParaRPr/>
          </a:p>
          <a:p>
            <a:pPr indent="-457200" lvl="1" marL="9715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66699"/>
              </a:buClr>
              <a:buSzPts val="2400"/>
              <a:buFont typeface="Lucida Sans"/>
              <a:buAutoNum type="arabicPeriod"/>
            </a:pPr>
            <a:r>
              <a:rPr b="0" i="0" lang="en-US" sz="24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Enquanto um subprograma é executado, as suas variáveis são visíveis para todos os subprogramas que ele chamar</a:t>
            </a:r>
            <a:endParaRPr/>
          </a:p>
          <a:p>
            <a:pPr indent="-457200" lvl="1" marL="9715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66699"/>
              </a:buClr>
              <a:buSzPts val="2400"/>
              <a:buFont typeface="Lucida Sans"/>
              <a:buAutoNum type="arabicPeriod"/>
            </a:pPr>
            <a:r>
              <a:rPr b="0" i="0" lang="en-US" sz="24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Impossível de realizar a verificação de tipos de forma estática</a:t>
            </a:r>
            <a:endParaRPr/>
          </a:p>
          <a:p>
            <a:pPr indent="-457200" lvl="1" marL="9715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66699"/>
              </a:buClr>
              <a:buSzPts val="2400"/>
              <a:buFont typeface="Lucida Sans"/>
              <a:buAutoNum type="arabicPeriod"/>
            </a:pPr>
            <a:r>
              <a:rPr b="0" i="0" lang="en-US" sz="24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Legibilidade: não é possível determinar o tipo de uma variável de forma estática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1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441" name="Google Shape;441;p41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42" name="Google Shape;442;p41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Escopo e Tempo de Vida</a:t>
            </a:r>
            <a:endParaRPr/>
          </a:p>
        </p:txBody>
      </p:sp>
      <p:sp>
        <p:nvSpPr>
          <p:cNvPr id="443" name="Google Shape;443;p41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Escopo e Tempo de vida são parecidos, no entanto seus conceitos são diferentes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Exemplo em C++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None/>
            </a:pPr>
            <a:r>
              <a:t/>
            </a:r>
            <a:endParaRPr b="0" i="0" sz="28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None/>
            </a:pPr>
            <a:r>
              <a:t/>
            </a:r>
            <a:endParaRPr b="0" i="0" sz="28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None/>
            </a:pPr>
            <a:r>
              <a:t/>
            </a:r>
            <a:endParaRPr b="0" i="0" sz="28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None/>
            </a:pPr>
            <a:r>
              <a:t/>
            </a:r>
            <a:endParaRPr b="0" i="0" sz="28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Escopo de sum é compute( 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Tempo de vida de sum é enquanto printheader( ) é executado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None/>
            </a:pPr>
            <a:r>
              <a:t/>
            </a:r>
            <a:endParaRPr b="0" i="0" sz="28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444" name="Google Shape;444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05400" y="2590800"/>
            <a:ext cx="3938587" cy="2449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2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451" name="Google Shape;451;p42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52" name="Google Shape;452;p42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Ambientes de referenciamento</a:t>
            </a:r>
            <a:endParaRPr/>
          </a:p>
        </p:txBody>
      </p:sp>
      <p:sp>
        <p:nvSpPr>
          <p:cNvPr id="453" name="Google Shape;453;p42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•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O ambiente de referenciamento de uma sentença é a coleção de todas as variáveis visíveis nela.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•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Em uma linguagem com </a:t>
            </a:r>
            <a:r>
              <a:rPr b="1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escopo estático</a:t>
            </a: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, é composto pelas variáveis declaradas em seu escopo local mais a coleção de todas variáveis de seus escopos ancestrais visíveis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•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Um subprograma é ativo se sua execução começou e ainda não terminou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•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Em uma linguagem com </a:t>
            </a:r>
            <a:r>
              <a:rPr b="1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escopo dinâmico</a:t>
            </a: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, é composto pelas variáveis locais mais as variáveis visíveis nos subprogramas ativos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3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460" name="Google Shape;460;p43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61" name="Google Shape;461;p43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Ambientes de referenciamento – Exemplo Escopo Estático</a:t>
            </a:r>
            <a:endParaRPr/>
          </a:p>
        </p:txBody>
      </p:sp>
      <p:pic>
        <p:nvPicPr>
          <p:cNvPr id="462" name="Google Shape;462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1314450"/>
            <a:ext cx="6327775" cy="340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" y="4953000"/>
            <a:ext cx="8631237" cy="128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4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470" name="Google Shape;470;p44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71" name="Google Shape;471;p44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Ambientes de referenciamento – Exemplo Escopo Dinâmico</a:t>
            </a:r>
            <a:endParaRPr/>
          </a:p>
        </p:txBody>
      </p:sp>
      <p:pic>
        <p:nvPicPr>
          <p:cNvPr id="472" name="Google Shape;472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4175" y="1289050"/>
            <a:ext cx="3324225" cy="381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267325"/>
            <a:ext cx="8077200" cy="1452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5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480" name="Google Shape;480;p45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81" name="Google Shape;481;p45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Constantes Nomeadas</a:t>
            </a:r>
            <a:endParaRPr/>
          </a:p>
        </p:txBody>
      </p:sp>
      <p:sp>
        <p:nvSpPr>
          <p:cNvPr id="482" name="Google Shape;482;p45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•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Uma constante nomeada é uma variável vinculada a um valor apenas uma vez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ucida Sans"/>
              <a:buChar char="•"/>
            </a:pPr>
            <a:r>
              <a:rPr b="0" i="0" lang="en-US" sz="2400" u="non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Vantagens: </a:t>
            </a: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legibilidade e modificabilidade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•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Parametrização de programas (usar constante para tamanho)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•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 viculação de valores a constantes nomeadas pode ser estática ou dinâmica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•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Exemplos: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666699"/>
              </a:buClr>
              <a:buSzPts val="2000"/>
              <a:buFont typeface="Lucida Sans"/>
              <a:buChar char="–"/>
            </a:pPr>
            <a:r>
              <a:rPr b="0" i="0" lang="en-US" sz="20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C++ e Java: vinculação dinâmica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666699"/>
              </a:buClr>
              <a:buSzPts val="2000"/>
              <a:buFont typeface="Lucida Sans"/>
              <a:buChar char="–"/>
            </a:pPr>
            <a:r>
              <a:rPr b="0" i="0" lang="en-US" sz="20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C# possui dois modos, </a:t>
            </a:r>
            <a:r>
              <a:rPr b="1" i="0" lang="en-US" sz="1800" u="none">
                <a:solidFill>
                  <a:srgbClr val="666699"/>
                </a:solidFill>
                <a:latin typeface="Courier New"/>
                <a:ea typeface="Courier New"/>
                <a:cs typeface="Courier New"/>
                <a:sym typeface="Courier New"/>
              </a:rPr>
              <a:t>readonly</a:t>
            </a:r>
            <a:r>
              <a:rPr b="0" i="0" lang="en-US" sz="20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 e </a:t>
            </a:r>
            <a:r>
              <a:rPr b="1" i="0" lang="en-US" sz="1800" u="none">
                <a:solidFill>
                  <a:srgbClr val="666699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666699"/>
              </a:buClr>
              <a:buSzPts val="2000"/>
              <a:buFont typeface="Lucida Sans"/>
              <a:buNone/>
            </a:pPr>
            <a:r>
              <a:rPr b="0" i="0" lang="en-US" sz="20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    - Os valores de constantes nomeadas utilizando const são vinculadas em tempo de compilação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666699"/>
              </a:buClr>
              <a:buSzPts val="2000"/>
              <a:buFont typeface="Lucida Sans"/>
              <a:buNone/>
            </a:pPr>
            <a:r>
              <a:rPr b="0" i="0" lang="en-US" sz="20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    - Os valores de constantes nomeadas com readonly são vinculadas dinâmicamente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6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489" name="Google Shape;489;p46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90" name="Google Shape;490;p46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Resumo</a:t>
            </a:r>
            <a:endParaRPr/>
          </a:p>
        </p:txBody>
      </p:sp>
      <p:sp>
        <p:nvSpPr>
          <p:cNvPr id="491" name="Google Shape;491;p46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•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Distinção entre maiúsculas e minúsculas são questões de projeto para nomes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•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Variáveis podem ser caracterizadas por seis atributos: nome, endereço, valor, tipo, tempo de vida e escopo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•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Vinculação é associação dos atributos a entidades do programa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_sebesta">
  <a:themeElements>
    <a:clrScheme name="1_sebest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sebesta">
  <a:themeElements>
    <a:clrScheme name="1_sebest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2003-08-01T12:29:19Z</dcterms:created>
  <dc:creator>David Garrett</dc:creator>
</cp:coreProperties>
</file>