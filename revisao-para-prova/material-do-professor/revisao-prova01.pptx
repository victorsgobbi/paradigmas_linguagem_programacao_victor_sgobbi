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Abra com a pergunta: o que conecta a escolha de uma linguagem ao modo como ela é analisada e executada?</a:t>
            </a:r>
          </a:p>
          <a:p/>
          <a:p>
            <a:r>
              <a:t>PROVENIÊNCIA</a:t>
            </a:r>
          </a:p>
          <a:p>
            <a:r>
              <a:t>lesson_model.approved.json; Sebesta, capítulos 1–5; slides do professor, capítulos 1, 3, 4 e 5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Não leia os itens como checklist passivo. Peça exemplos rápidos para dois ou três deles.</a:t>
            </a:r>
          </a:p>
          <a:p/>
          <a:p>
            <a:r>
              <a:t>PROVENIÊNCIA</a:t>
            </a:r>
          </a:p>
          <a:p>
            <a:r>
              <a:t>Modelo aprovado: objetivos obj01–obj13; matriz de cobertura da Prova 01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Percorra da esquerda para a direita e mostre que os capítulos formam uma cadeia, não cinco listas isoladas.</a:t>
            </a:r>
          </a:p>
          <a:p/>
          <a:p>
            <a:r>
              <a:t>PROVENIÊNCIA</a:t>
            </a:r>
          </a:p>
          <a:p>
            <a:r>
              <a:t>Relações do lesson model aprovado; conteúdo dos capítulos 1–5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Peça aos alunos que escolham a razão mais útil para sua carreira e justifiquem.</a:t>
            </a:r>
          </a:p>
          <a:p/>
          <a:p>
            <a:r>
              <a:t>PROVENIÊNCIA</a:t>
            </a:r>
          </a:p>
          <a:p>
            <a:r>
              <a:t>slides-ch1, slides 3–4; conceitos c01 e c08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Mostre que nenhuma coluna decide sozinha. Use um sistema crítico e um protótipo como contextos contrastantes.</a:t>
            </a:r>
          </a:p>
          <a:p/>
          <a:p>
            <a:r>
              <a:t>PROVENIÊNCIA</a:t>
            </a:r>
          </a:p>
          <a:p>
            <a:r>
              <a:t>slides-ch1, slides 5–20 e 27; conceitos c02–c06 e c09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Conecte von Neumann a variáveis, atribuição e iteração. Depois lembre que paradigmas não são caixas totalmente isoladas.</a:t>
            </a:r>
          </a:p>
          <a:p/>
          <a:p>
            <a:r>
              <a:t>PROVENIÊNCIA</a:t>
            </a:r>
          </a:p>
          <a:p>
            <a:r>
              <a:t>slides-ch1, slides 21–27; conceitos c07–c09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Destaque o comportamento do JIT: compila durante a execução e reutiliza código quente.</a:t>
            </a:r>
          </a:p>
          <a:p/>
          <a:p>
            <a:r>
              <a:t>PROVENIÊNCIA</a:t>
            </a:r>
          </a:p>
          <a:p>
            <a:r>
              <a:t>slides-ch1, slides 28–38; conceitos c10 e c19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Evite decorar apenas datas. Organize a história por problema, contribuição e descendentes.</a:t>
            </a:r>
          </a:p>
          <a:p/>
          <a:p>
            <a:r>
              <a:t>PROVENIÊNCIA</a:t>
            </a:r>
          </a:p>
          <a:p>
            <a:r>
              <a:t>Sebesta, cap. 2, p. 50–116; concepts c11–c20; exercises-ch2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Faça uma rodada rápida: mostre o nome e peça domínio/contribuição antes de revelar a descrição.</a:t>
            </a:r>
          </a:p>
          <a:p/>
          <a:p>
            <a:r>
              <a:t>PROVENIÊNCIA</a:t>
            </a:r>
          </a:p>
          <a:p>
            <a:r>
              <a:t>Sebesta, cap. 2; conceitos c14–c18; matriz de cobertura Q04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Use como mapa de associação. Não exija cronologia exata se ela não for o foco; cobre contribuição e domínio.</a:t>
            </a:r>
          </a:p>
          <a:p/>
          <a:p>
            <a:r>
              <a:t>PROVENIÊNCIA</a:t>
            </a:r>
          </a:p>
          <a:p>
            <a:r>
              <a:t>Sebesta, cap. 2, p. 52–116; conceitos c12–c20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Peça exemplos de lexema e token no mesmo trecho de código.</a:t>
            </a:r>
          </a:p>
          <a:p/>
          <a:p>
            <a:r>
              <a:t>PROVENIÊNCIA</a:t>
            </a:r>
          </a:p>
          <a:p>
            <a:r>
              <a:t>slides-ch3, slides 3–6; conceitos c21–c23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Leia uma produção da esquerda para a direita e identifique vocabulário, símbolo inicial e metasímbolos.</a:t>
            </a:r>
          </a:p>
          <a:p/>
          <a:p>
            <a:r>
              <a:t>PROVENIÊNCIA</a:t>
            </a:r>
          </a:p>
          <a:p>
            <a:r>
              <a:t>slides-ch3, slides 7–14; conceitos c24–c26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Peça que cada seta seja justificada pela produção aplicada. No final, confirme que só restam terminais.</a:t>
            </a:r>
          </a:p>
          <a:p/>
          <a:p>
            <a:r>
              <a:t>PROVENIÊNCIA</a:t>
            </a:r>
          </a:p>
          <a:p>
            <a:r>
              <a:t>slides-ch3, slides 11–15; conceitos c25–c27; exemplo autoral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Enfatize: derivações distintas só provam ambiguidade quando geram árvores sintáticas distintas para a mesma sentença.</a:t>
            </a:r>
          </a:p>
          <a:p/>
          <a:p>
            <a:r>
              <a:t>PROVENIÊNCIA</a:t>
            </a:r>
          </a:p>
          <a:p>
            <a:r>
              <a:t>slides-ch3, slides 15–21; conceitos c27–c29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Use a mesma atribuição em cada abordagem para evidenciar a diferença de ponto de vista.</a:t>
            </a:r>
          </a:p>
          <a:p/>
          <a:p>
            <a:r>
              <a:t>PROVENIÊNCIA</a:t>
            </a:r>
          </a:p>
          <a:p>
            <a:r>
              <a:t>slides-ch3, slides 24–49; conceitos c21 e c30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Classifique os lexemas primeiro; só depois discuta como o parser verifica a sequência.</a:t>
            </a:r>
          </a:p>
          <a:p/>
          <a:p>
            <a:r>
              <a:t>PROVENIÊNCIA</a:t>
            </a:r>
          </a:p>
          <a:p>
            <a:r>
              <a:t>slides-ch4, slides 4–18; conceitos c31–c35; exemplo autoral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Peça aos alunos que façam o gesto: descendente expande; ascendente reduz.</a:t>
            </a:r>
          </a:p>
          <a:p/>
          <a:p>
            <a:r>
              <a:t>PROVENIÊNCIA</a:t>
            </a:r>
          </a:p>
          <a:p>
            <a:r>
              <a:t>slides-ch4, slides 19–26 e 42; conceitos c36 e c39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Mostre a chamada E() chamando E() antes de consumir token; esse é o motivo operacional do problema.</a:t>
            </a:r>
          </a:p>
          <a:p/>
          <a:p>
            <a:r>
              <a:t>PROVENIÊNCIA</a:t>
            </a:r>
          </a:p>
          <a:p>
            <a:r>
              <a:t>slides-ch4, slides 31–38; conceitos c37 e c38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Diferencie com precisão as colunas: ACTION recebe terminal; GOTO recebe não terminal após redução.</a:t>
            </a:r>
          </a:p>
          <a:p/>
          <a:p>
            <a:r>
              <a:t>PROVENIÊNCIA</a:t>
            </a:r>
          </a:p>
          <a:p>
            <a:r>
              <a:t>slides-ch4, slides 49–56; conceito c40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Use a metáfora de ficha de identidade. Depois pergunte quais atributos podem mudar e quando.</a:t>
            </a:r>
          </a:p>
          <a:p/>
          <a:p>
            <a:r>
              <a:t>PROVENIÊNCIA</a:t>
            </a:r>
          </a:p>
          <a:p>
            <a:r>
              <a:t>slides-ch5, slides 9–22; conceitos c42–c47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Use a linha 'pilha' para explicar a variável local comum: nasce na entrada, morre no retorno, pode ter novo endereço.</a:t>
            </a:r>
          </a:p>
          <a:p/>
          <a:p>
            <a:r>
              <a:t>PROVENIÊNCIA</a:t>
            </a:r>
          </a:p>
          <a:p>
            <a:r>
              <a:t>slides-ch5, slides 23–26; conceitos c47 e c48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Compare o mesmo nome sob as duas regras. Separe sempre visibilidade de permanência na memória.</a:t>
            </a:r>
          </a:p>
          <a:p/>
          <a:p>
            <a:r>
              <a:t>PROVENIÊNCIA</a:t>
            </a:r>
          </a:p>
          <a:p>
            <a:r>
              <a:t>slides-ch5, slides 27–42; conceitos c49 e c50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Dê 20 segundos para prever a saída. Depois percorra a busca do nome em cada ponto.</a:t>
            </a:r>
          </a:p>
          <a:p/>
          <a:p>
            <a:r>
              <a:t>PROVENIÊNCIA</a:t>
            </a:r>
          </a:p>
          <a:p>
            <a:r>
              <a:t>slides-ch5, slides 28–31; conceito c49; exemplo autoral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Use como revisão oral. Escolha um item de cada capítulo; exija justificativa, não apenas nome.</a:t>
            </a:r>
          </a:p>
          <a:p/>
          <a:p>
            <a:r>
              <a:t>PROVENIÊNCIA</a:t>
            </a:r>
          </a:p>
          <a:p>
            <a:r>
              <a:t>Matriz de cobertura da Prova 01; lesson model c02–c50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CONDUÇÃO</a:t>
            </a:r>
          </a:p>
          <a:p>
            <a:r>
              <a:t>Encerre pedindo que cada aluno marque o tema que ainda não consegue explicar sem consulta.</a:t>
            </a:r>
          </a:p>
          <a:p/>
          <a:p>
            <a:r>
              <a:t>PROVENIÊNCIA</a:t>
            </a:r>
          </a:p>
          <a:p>
            <a:r>
              <a:t>Sebesta, capítulos 1–5; slides do professor; lesson_model.approved.json</a:t>
            </a:r>
          </a:p>
          <a:p/>
          <a:p>
            <a:r>
              <a:t>Modo: paráfrase e conteúdo autoral. Não reproduz figuras nem exercícios da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704" cy="14630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704" y="0"/>
            <a:ext cx="2438704" cy="1463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7409" y="0"/>
            <a:ext cx="2438704" cy="146304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6114" y="0"/>
            <a:ext cx="2438704" cy="14630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4819" y="0"/>
            <a:ext cx="2438704" cy="146304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3840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FC8FF"/>
                </a:solidFill>
                <a:latin typeface="Ubuntu Sans"/>
              </a:rPr>
              <a:t>REVISÃO • PROVA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88720"/>
            <a:ext cx="6675120" cy="2423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5F7FB"/>
                </a:solidFill>
                <a:latin typeface="Ubuntu Sans"/>
              </a:rPr>
              <a:t>Conceitos de
Linguagens de
Programação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858768"/>
            <a:ext cx="5303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A9B7CA"/>
                </a:solidFill>
                <a:latin typeface="Ubuntu Sans"/>
              </a:rPr>
              <a:t>Capítulos 1 a 5 de Sebesta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749808"/>
            <a:ext cx="3977639" cy="528523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005840"/>
            <a:ext cx="10972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2F80ED"/>
                </a:solidFill>
                <a:latin typeface="Ubuntu San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1344168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7FB"/>
                </a:solidFill>
                <a:latin typeface="Ubuntu Sans"/>
              </a:rPr>
              <a:t>capítulos</a:t>
            </a:r>
          </a:p>
        </p:txBody>
      </p:sp>
      <p:sp>
        <p:nvSpPr>
          <p:cNvPr id="13" name="Oval 12"/>
          <p:cNvSpPr/>
          <p:nvPr/>
        </p:nvSpPr>
        <p:spPr>
          <a:xfrm>
            <a:off x="8028431" y="2331720"/>
            <a:ext cx="347472" cy="347472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2331720"/>
            <a:ext cx="34747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Ubuntu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368296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fundamentos</a:t>
            </a:r>
          </a:p>
        </p:txBody>
      </p:sp>
      <p:sp>
        <p:nvSpPr>
          <p:cNvPr id="16" name="Oval 15"/>
          <p:cNvSpPr/>
          <p:nvPr/>
        </p:nvSpPr>
        <p:spPr>
          <a:xfrm>
            <a:off x="8028431" y="29535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2953512"/>
            <a:ext cx="34747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Ubuntu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990088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evolução</a:t>
            </a:r>
          </a:p>
        </p:txBody>
      </p:sp>
      <p:sp>
        <p:nvSpPr>
          <p:cNvPr id="19" name="Oval 18"/>
          <p:cNvSpPr/>
          <p:nvPr/>
        </p:nvSpPr>
        <p:spPr>
          <a:xfrm>
            <a:off x="8028431" y="3575304"/>
            <a:ext cx="347472" cy="347472"/>
          </a:xfrm>
          <a:prstGeom prst="ellipse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3575304"/>
            <a:ext cx="34747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Ubuntu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3611880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descrição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4197096"/>
            <a:ext cx="347472" cy="347472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4197096"/>
            <a:ext cx="34747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Ubuntu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4233672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análise</a:t>
            </a:r>
          </a:p>
        </p:txBody>
      </p:sp>
      <p:sp>
        <p:nvSpPr>
          <p:cNvPr id="25" name="Oval 24"/>
          <p:cNvSpPr/>
          <p:nvPr/>
        </p:nvSpPr>
        <p:spPr>
          <a:xfrm>
            <a:off x="8028431" y="4818888"/>
            <a:ext cx="347472" cy="3474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1" y="4818888"/>
            <a:ext cx="34747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Ubuntu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4855464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variáveis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6144768"/>
            <a:ext cx="6492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B7CA"/>
                </a:solidFill>
                <a:latin typeface="Ubuntu Sans"/>
              </a:rPr>
              <a:t>Paradigmas de Programação • Engenharia de Software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35508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B7CA"/>
                </a:solidFill>
                <a:latin typeface="Ubuntu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D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5D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ROTA DA REVISÃO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O que você precisa conseguir fazer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Modelo aprovado: objetivos obj01–obj13; matriz de cobertura da Prova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D6B7A"/>
                </a:solidFill>
                <a:latin typeface="Ubuntu San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3337560" cy="120700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73152" cy="120700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93392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80ED"/>
                </a:solidFill>
                <a:latin typeface="Ubuntu Sans"/>
              </a:rPr>
              <a:t>COMPARAR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41448"/>
            <a:ext cx="295351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Ubuntu Sans"/>
              </a:rPr>
              <a:t>critérios, paradigmas e estratégias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28800"/>
            <a:ext cx="3337560" cy="120700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828800"/>
            <a:ext cx="73152" cy="1207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1993392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7AE60"/>
                </a:solidFill>
                <a:latin typeface="Ubuntu Sans"/>
              </a:rPr>
              <a:t>RELACIONAR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441448"/>
            <a:ext cx="295351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Ubuntu Sans"/>
              </a:rPr>
              <a:t>linguagens, domínios e contribuições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828800"/>
            <a:ext cx="3337560" cy="120700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828800"/>
            <a:ext cx="73152" cy="1207008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993392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B51E0"/>
                </a:solidFill>
                <a:latin typeface="Ubuntu Sans"/>
              </a:rPr>
              <a:t>APLICAR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441448"/>
            <a:ext cx="295351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Ubuntu Sans"/>
              </a:rPr>
              <a:t>gramática, derivação e classificação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01568"/>
            <a:ext cx="3337560" cy="120700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401568"/>
            <a:ext cx="73152" cy="1207008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566160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994A"/>
                </a:solidFill>
                <a:latin typeface="Ubuntu Sans"/>
              </a:rPr>
              <a:t>EXPLICAR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014215"/>
            <a:ext cx="295351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Ubuntu Sans"/>
              </a:rPr>
              <a:t>léxico, parser, LR e semântica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3401568"/>
            <a:ext cx="3337560" cy="120700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61688" y="3401568"/>
            <a:ext cx="73152" cy="1207008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5" y="3566160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B5757"/>
                </a:solidFill>
                <a:latin typeface="Ubuntu Sans"/>
              </a:rPr>
              <a:t>ANALISAR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5" y="4014215"/>
            <a:ext cx="295351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Ubuntu Sans"/>
              </a:rPr>
              <a:t>vinculação, vida, escopo e saída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4983480"/>
            <a:ext cx="6931152" cy="804672"/>
          </a:xfrm>
          <a:prstGeom prst="roundRect">
            <a:avLst/>
          </a:prstGeom>
          <a:solidFill>
            <a:srgbClr val="0E2A40"/>
          </a:solidFill>
          <a:ln w="12700"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5193792"/>
            <a:ext cx="6400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D4FF"/>
                </a:solidFill>
                <a:latin typeface="Ubuntu Sans"/>
              </a:rPr>
              <a:t>Meta: responder com conceito + justificativa + exemplo.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D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5D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MAPA INTEGRADO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Uma linguagem passa por cinco lentes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Relações do lesson model aprovado; conteúdo dos capítulos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D6B7A"/>
                </a:solidFill>
                <a:latin typeface="Ubuntu Sans"/>
              </a:rPr>
              <a:t>03</a:t>
            </a:r>
          </a:p>
        </p:txBody>
      </p:sp>
      <p:sp>
        <p:nvSpPr>
          <p:cNvPr id="9" name="Oval 8"/>
          <p:cNvSpPr/>
          <p:nvPr/>
        </p:nvSpPr>
        <p:spPr>
          <a:xfrm>
            <a:off x="1225295" y="1828800"/>
            <a:ext cx="713232" cy="713232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5" y="1828800"/>
            <a:ext cx="713232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F7FB"/>
                </a:solidFill>
                <a:latin typeface="Ubuntu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70632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0ED"/>
                </a:solidFill>
                <a:latin typeface="Ubuntu Sans"/>
              </a:rPr>
              <a:t>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36976"/>
            <a:ext cx="2011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Como avaliar?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2185416"/>
            <a:ext cx="813816" cy="0"/>
          </a:xfrm>
          <a:prstGeom prst="line">
            <a:avLst/>
          </a:prstGeom>
          <a:ln w="381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493008" y="1828800"/>
            <a:ext cx="713232" cy="71323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828800"/>
            <a:ext cx="713232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F7FB"/>
                </a:solidFill>
                <a:latin typeface="Ubuntu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770632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7AE60"/>
                </a:solidFill>
                <a:latin typeface="Ubuntu Sans"/>
              </a:rPr>
              <a:t>HISTÓRIA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236976"/>
            <a:ext cx="2011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De onde veio?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33672" y="2185416"/>
            <a:ext cx="813816" cy="0"/>
          </a:xfrm>
          <a:prstGeom prst="line">
            <a:avLst/>
          </a:prstGeom>
          <a:ln w="38100">
            <a:solidFill>
              <a:srgbClr val="9B51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760720" y="1828800"/>
            <a:ext cx="713232" cy="713232"/>
          </a:xfrm>
          <a:prstGeom prst="ellipse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828800"/>
            <a:ext cx="713232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F7FB"/>
                </a:solidFill>
                <a:latin typeface="Ubuntu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2770632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B51E0"/>
                </a:solidFill>
                <a:latin typeface="Ubuntu Sans"/>
              </a:rPr>
              <a:t>DESCRIÇÃO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236976"/>
            <a:ext cx="2011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Como especificar?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01384" y="2185416"/>
            <a:ext cx="813816" cy="0"/>
          </a:xfrm>
          <a:prstGeom prst="line">
            <a:avLst/>
          </a:prstGeom>
          <a:ln w="3810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028431" y="1828800"/>
            <a:ext cx="713232" cy="713232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828800"/>
            <a:ext cx="713232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F7FB"/>
                </a:solidFill>
                <a:latin typeface="Ubuntu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3" y="2770632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994A"/>
                </a:solidFill>
                <a:latin typeface="Ubuntu Sans"/>
              </a:rPr>
              <a:t>ANÁLISE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3" y="3236976"/>
            <a:ext cx="2011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Como reconhecer?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69095" y="2185416"/>
            <a:ext cx="813816" cy="0"/>
          </a:xfrm>
          <a:prstGeom prst="line">
            <a:avLst/>
          </a:prstGeom>
          <a:ln w="38100">
            <a:solidFill>
              <a:srgbClr val="EB5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296144" y="1828800"/>
            <a:ext cx="713232" cy="71323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96144" y="1828800"/>
            <a:ext cx="713232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F7FB"/>
                </a:solidFill>
                <a:latin typeface="Ubuntu San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770632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B5757"/>
                </a:solidFill>
                <a:latin typeface="Ubuntu Sans"/>
              </a:rPr>
              <a:t>EXECUÇÃO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3236976"/>
            <a:ext cx="2011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Como nomes vivem?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572000"/>
            <a:ext cx="8458200" cy="98755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74519" y="4572000"/>
            <a:ext cx="73152" cy="9875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4690872"/>
            <a:ext cx="80924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6CCF2"/>
                </a:solidFill>
                <a:latin typeface="Ubuntu Sans"/>
              </a:rPr>
              <a:t>CONEXÃO-CHAVE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5001768"/>
            <a:ext cx="807415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F7FB"/>
                </a:solidFill>
                <a:latin typeface="Ubuntu Sans"/>
              </a:rPr>
              <a:t>A descrição formal orienta o parser; as decisões sobre tipos e memória afetam confiabilidade e custo.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Por que estudar conceitos de linguagens?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slides-ch1, slides 3–4; conceitos c01 e c08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80ED"/>
                </a:solidFill>
                <a:latin typeface="Ubuntu San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83080"/>
            <a:ext cx="3438144" cy="14173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783080"/>
            <a:ext cx="73152" cy="14173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307238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80ED"/>
                </a:solidFill>
                <a:latin typeface="Ubuntu Sans"/>
              </a:rPr>
              <a:t>EXPRESSAR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95728"/>
            <a:ext cx="3054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7FB"/>
                </a:solidFill>
                <a:latin typeface="Ubuntu Sans"/>
              </a:rPr>
              <a:t>ampliar o repertório para formular soluções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1783080"/>
            <a:ext cx="3438144" cy="14173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7" y="1783080"/>
            <a:ext cx="73152" cy="14173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5" y="1947672"/>
            <a:ext cx="307238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80ED"/>
                </a:solidFill>
                <a:latin typeface="Ubuntu Sans"/>
              </a:rPr>
              <a:t>ESCOLHER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5" y="2395728"/>
            <a:ext cx="3054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7FB"/>
                </a:solidFill>
                <a:latin typeface="Ubuntu Sans"/>
              </a:rPr>
              <a:t>combinar linguagem e domínio do problema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3" y="1783080"/>
            <a:ext cx="3438144" cy="14173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1783080"/>
            <a:ext cx="73152" cy="14173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947672"/>
            <a:ext cx="307238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80ED"/>
                </a:solidFill>
                <a:latin typeface="Ubuntu Sans"/>
              </a:rPr>
              <a:t>APRENDER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395728"/>
            <a:ext cx="3054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7FB"/>
                </a:solidFill>
                <a:latin typeface="Ubuntu Sans"/>
              </a:rPr>
              <a:t>reconhecer conceitos em novas linguagens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611880"/>
            <a:ext cx="3438144" cy="14173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3611880"/>
            <a:ext cx="73152" cy="14173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76472"/>
            <a:ext cx="307238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80ED"/>
                </a:solidFill>
                <a:latin typeface="Ubuntu Sans"/>
              </a:rPr>
              <a:t>IMPLEMENTAR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24528"/>
            <a:ext cx="3054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7FB"/>
                </a:solidFill>
                <a:latin typeface="Ubuntu Sans"/>
              </a:rPr>
              <a:t>entender o que compilador e runtime fazem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7" y="3611880"/>
            <a:ext cx="3438144" cy="14173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7" y="3611880"/>
            <a:ext cx="73152" cy="14173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5" y="3776472"/>
            <a:ext cx="307238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80ED"/>
                </a:solidFill>
                <a:latin typeface="Ubuntu Sans"/>
              </a:rPr>
              <a:t>USAR MELHOR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5" y="4224528"/>
            <a:ext cx="3054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7FB"/>
                </a:solidFill>
                <a:latin typeface="Ubuntu Sans"/>
              </a:rPr>
              <a:t>explorar com consciência o que já conhece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3023" y="3611880"/>
            <a:ext cx="3438144" cy="14173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93023" y="3611880"/>
            <a:ext cx="73152" cy="14173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3776472"/>
            <a:ext cx="307238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80ED"/>
                </a:solidFill>
                <a:latin typeface="Ubuntu Sans"/>
              </a:rPr>
              <a:t>EVOLUIR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224528"/>
            <a:ext cx="3054096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7FB"/>
                </a:solidFill>
                <a:latin typeface="Ubuntu Sans"/>
              </a:rPr>
              <a:t>avaliar tendências sem seguir apenas popularidade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562356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FC8FF"/>
                </a:solidFill>
                <a:latin typeface="Ubuntu Sans"/>
              </a:rPr>
              <a:t>Domínio importa: científico ≠ comercial ≠ IA ≠ sistemas ≠ Web.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Escolher exige equilibrar critérios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slides-ch1, slides 5–20 e 27; conceitos c02–c06 e c09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80ED"/>
                </a:solidFill>
                <a:latin typeface="Ubuntu San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783080"/>
            <a:ext cx="2542032" cy="212140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975104"/>
            <a:ext cx="226771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80ED"/>
                </a:solidFill>
                <a:latin typeface="Ubuntu Sans"/>
              </a:rPr>
              <a:t>LEGIBILIDADE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496312"/>
            <a:ext cx="22677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Ubuntu Sans"/>
              </a:rPr>
              <a:t>ler e compreender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90672"/>
            <a:ext cx="224942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9B7CA"/>
                </a:solidFill>
                <a:latin typeface="Ubuntu Sans"/>
              </a:rPr>
              <a:t>simplicidade • ortogonalidade • sintaxe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783080"/>
            <a:ext cx="2542032" cy="212140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975104"/>
            <a:ext cx="226771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80ED"/>
                </a:solidFill>
                <a:latin typeface="Ubuntu Sans"/>
              </a:rPr>
              <a:t>ESCRITA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496312"/>
            <a:ext cx="22677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Ubuntu Sans"/>
              </a:rPr>
              <a:t>expressar soluções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3090672"/>
            <a:ext cx="224942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9B7CA"/>
                </a:solidFill>
                <a:latin typeface="Ubuntu Sans"/>
              </a:rPr>
              <a:t>abstração • expressividade • domínio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783080"/>
            <a:ext cx="2542032" cy="212140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75104"/>
            <a:ext cx="226771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80ED"/>
                </a:solidFill>
                <a:latin typeface="Ubuntu Sans"/>
              </a:rPr>
              <a:t>CONFIABILIDADE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96312"/>
            <a:ext cx="22677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Ubuntu Sans"/>
              </a:rPr>
              <a:t>cumprir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090672"/>
            <a:ext cx="224942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9B7CA"/>
                </a:solidFill>
                <a:latin typeface="Ubuntu Sans"/>
              </a:rPr>
              <a:t>tipos • exceções • poucos aliases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1783080"/>
            <a:ext cx="2542032" cy="212140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975104"/>
            <a:ext cx="226771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80ED"/>
                </a:solidFill>
                <a:latin typeface="Ubuntu Sans"/>
              </a:rPr>
              <a:t>CUSTO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496312"/>
            <a:ext cx="22677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Ubuntu Sans"/>
              </a:rPr>
              <a:t>ciclo de vida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3090672"/>
            <a:ext cx="224942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9B7CA"/>
                </a:solidFill>
                <a:latin typeface="Ubuntu Sans"/>
              </a:rPr>
              <a:t>treino • implementação • execução • manutenção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443984"/>
            <a:ext cx="10003536" cy="10058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" y="4443984"/>
            <a:ext cx="73152" cy="1005840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8448" y="4608576"/>
            <a:ext cx="963777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6CCF2"/>
                </a:solidFill>
                <a:latin typeface="Ubuntu Sans"/>
              </a:rPr>
              <a:t>TRADE-OFF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056632"/>
            <a:ext cx="961948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F7FB"/>
                </a:solidFill>
                <a:latin typeface="Ubuntu Sans"/>
              </a:rPr>
              <a:t>Mais checagens podem elevar a confiabilidade e também o custo de execução. Mais concisão pode reduzir a legibilidade.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669280"/>
            <a:ext cx="100035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FC8FF"/>
                </a:solidFill>
                <a:latin typeface="Ubuntu Sans"/>
              </a:rPr>
              <a:t>Não existe “melhor linguagem” fora de contexto.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Projeto: influências, categorias e tensões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slides-ch1, slides 21–27; conceitos c07–c09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80ED"/>
                </a:solidFill>
                <a:latin typeface="Ubuntu San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520440" cy="16002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73152" cy="16002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47672"/>
            <a:ext cx="3154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80ED"/>
                </a:solidFill>
                <a:latin typeface="Ubuntu Sans"/>
              </a:rPr>
              <a:t>ARQUITETURA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95728"/>
            <a:ext cx="313639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Ubuntu Sans"/>
              </a:rPr>
              <a:t>von Neumann favorece memória, atribuição e iteração — base das linguagens imperativas.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783080"/>
            <a:ext cx="3520440" cy="16002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783080"/>
            <a:ext cx="73152" cy="16002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947672"/>
            <a:ext cx="3154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80ED"/>
                </a:solidFill>
                <a:latin typeface="Ubuntu Sans"/>
              </a:rPr>
              <a:t>METODOLOGIAS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395728"/>
            <a:ext cx="313639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Ubuntu Sans"/>
              </a:rPr>
              <a:t>Estruturada → abstração de dados → orientação a objetos; o projeto de software pressiona o projeto da linguagem.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783080"/>
            <a:ext cx="3520440" cy="16002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783080"/>
            <a:ext cx="73152" cy="16002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47672"/>
            <a:ext cx="3154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80ED"/>
                </a:solidFill>
                <a:latin typeface="Ubuntu Sans"/>
              </a:rPr>
              <a:t>CATEGORIAS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95728"/>
            <a:ext cx="313639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Ubuntu Sans"/>
              </a:rPr>
              <a:t>Imperativa • funcional • lógica • marcação/programação; linguagens reais podem combinar ideias.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977639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confiabilidade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069079"/>
            <a:ext cx="3611880" cy="7315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70448" y="3922776"/>
            <a:ext cx="393192" cy="393192"/>
          </a:xfrm>
          <a:prstGeom prst="ellipse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3922776"/>
            <a:ext cx="393192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B"/>
                </a:solidFill>
                <a:latin typeface="Ubuntu Sans"/>
              </a:rPr>
              <a:t>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977639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custo de execução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572000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legibilidade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663440"/>
            <a:ext cx="3611880" cy="7315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70448" y="4517136"/>
            <a:ext cx="393192" cy="393192"/>
          </a:xfrm>
          <a:prstGeom prst="ellipse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0448" y="4517136"/>
            <a:ext cx="393192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B"/>
                </a:solidFill>
                <a:latin typeface="Ubuntu Sans"/>
              </a:rPr>
              <a:t>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57200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capacidade de escrita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59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flexibilidade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5257799"/>
            <a:ext cx="3611880" cy="7315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70448" y="5111496"/>
            <a:ext cx="393192" cy="393192"/>
          </a:xfrm>
          <a:prstGeom prst="ellipse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0448" y="5111496"/>
            <a:ext cx="393192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B"/>
                </a:solidFill>
                <a:latin typeface="Ubuntu Sans"/>
              </a:rPr>
              <a:t>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166359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detecção antecipada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Do código à execução: quatro estratégias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slides-ch1, slides 28–38; conceitos c10 e c19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80ED"/>
                </a:solidFill>
                <a:latin typeface="Ubuntu San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2560320" cy="30632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20240"/>
            <a:ext cx="457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80ED"/>
                </a:solidFill>
                <a:latin typeface="Ubuntu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31720"/>
            <a:ext cx="22128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0ED"/>
                </a:solidFill>
                <a:latin typeface="Ubuntu Sans"/>
              </a:rPr>
              <a:t>COMPILAÇÃO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944368"/>
            <a:ext cx="22128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DejaVu Sans Mono"/>
              </a:rPr>
              <a:t>fonte → máquina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831336"/>
            <a:ext cx="21488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7CA"/>
                </a:solidFill>
                <a:latin typeface="Ubuntu Sans"/>
              </a:rPr>
              <a:t>tradução antes da execução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755648"/>
            <a:ext cx="2560320" cy="30632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20240"/>
            <a:ext cx="457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6CCF2"/>
                </a:solidFill>
                <a:latin typeface="Ubuntu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331720"/>
            <a:ext cx="22128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6CCF2"/>
                </a:solidFill>
                <a:latin typeface="Ubuntu Sans"/>
              </a:rPr>
              <a:t>INTERPRETAÇÃO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944368"/>
            <a:ext cx="22128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DejaVu Sans Mono"/>
              </a:rPr>
              <a:t>fonte → intérprete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31336"/>
            <a:ext cx="21488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7CA"/>
                </a:solidFill>
                <a:latin typeface="Ubuntu Sans"/>
              </a:rPr>
              <a:t>execução instrução a instrução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755648"/>
            <a:ext cx="2560320" cy="30632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1920240"/>
            <a:ext cx="457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B51E0"/>
                </a:solidFill>
                <a:latin typeface="Ubuntu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331720"/>
            <a:ext cx="22128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B51E0"/>
                </a:solidFill>
                <a:latin typeface="Ubuntu Sans"/>
              </a:rPr>
              <a:t>HÍBRIDA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944368"/>
            <a:ext cx="22128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DejaVu Sans Mono"/>
              </a:rPr>
              <a:t>fonte → intermediário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831336"/>
            <a:ext cx="21488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7CA"/>
                </a:solidFill>
                <a:latin typeface="Ubuntu Sans"/>
              </a:rPr>
              <a:t>VM interpreta uma forma portátil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0576" y="1755648"/>
            <a:ext cx="2560320" cy="30632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8" y="1920240"/>
            <a:ext cx="457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7AE60"/>
                </a:solidFill>
                <a:latin typeface="Ubuntu San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331720"/>
            <a:ext cx="22128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7AE60"/>
                </a:solidFill>
                <a:latin typeface="Ubuntu Sans"/>
              </a:rPr>
              <a:t>JIT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944368"/>
            <a:ext cx="22128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DejaVu Sans Mono"/>
              </a:rPr>
              <a:t>intermediário → máquina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3831336"/>
            <a:ext cx="21488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7CA"/>
                </a:solidFill>
                <a:latin typeface="Ubuntu Sans"/>
              </a:rPr>
              <a:t>trechos frequentes compilados e reutilizados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5230368"/>
            <a:ext cx="1664208" cy="310896"/>
          </a:xfrm>
          <a:prstGeom prst="roundRect">
            <a:avLst/>
          </a:prstGeom>
          <a:solidFill>
            <a:srgbClr val="17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5239512"/>
            <a:ext cx="16642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buntu Sans"/>
              </a:rPr>
              <a:t>PISTA DE PROVA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623560"/>
            <a:ext cx="6995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FE59B"/>
                </a:solidFill>
                <a:latin typeface="Ubuntu Sans"/>
              </a:rPr>
              <a:t>“compila em execução + reutiliza” = JIT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Evolução não é uma fila de substituições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Sebesta, cap. 2, p. 50–116; concepts c11–c20; exercises-ch2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7AE60"/>
                </a:solidFill>
                <a:latin typeface="Ubuntu San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7AE60"/>
                </a:solidFill>
                <a:latin typeface="Ubuntu Sans"/>
              </a:rPr>
              <a:t>necessidade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96596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7AE60"/>
                </a:solidFill>
                <a:latin typeface="Ubuntu Sans"/>
              </a:rPr>
              <a:t>ideia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96596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7AE60"/>
                </a:solidFill>
                <a:latin typeface="Ubuntu Sans"/>
              </a:rPr>
              <a:t>influência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96596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7AE60"/>
                </a:solidFill>
                <a:latin typeface="Ubuntu Sans"/>
              </a:rPr>
              <a:t>adaptação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96596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7AE60"/>
                </a:solidFill>
                <a:latin typeface="Ubuntu Sans"/>
              </a:rPr>
              <a:t>coexistência</a:t>
            </a:r>
          </a:p>
        </p:txBody>
      </p:sp>
      <p:sp>
        <p:nvSpPr>
          <p:cNvPr id="14" name="Oval 13"/>
          <p:cNvSpPr/>
          <p:nvPr/>
        </p:nvSpPr>
        <p:spPr>
          <a:xfrm>
            <a:off x="1389888" y="2651760"/>
            <a:ext cx="658368" cy="6583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2651760"/>
            <a:ext cx="65836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B"/>
                </a:solidFill>
                <a:latin typeface="Ubuntu Sans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8256" y="2980944"/>
            <a:ext cx="1591056" cy="0"/>
          </a:xfrm>
          <a:prstGeom prst="line">
            <a:avLst/>
          </a:prstGeom>
          <a:ln w="38100">
            <a:solidFill>
              <a:srgbClr val="276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57600" y="2651760"/>
            <a:ext cx="658368" cy="6583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51760"/>
            <a:ext cx="65836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B"/>
                </a:solidFill>
                <a:latin typeface="Ubuntu Sans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15968" y="2980944"/>
            <a:ext cx="1591056" cy="0"/>
          </a:xfrm>
          <a:prstGeom prst="line">
            <a:avLst/>
          </a:prstGeom>
          <a:ln w="38100">
            <a:solidFill>
              <a:srgbClr val="276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925312" y="2651760"/>
            <a:ext cx="658368" cy="6583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25312" y="2651760"/>
            <a:ext cx="65836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B"/>
                </a:solidFill>
                <a:latin typeface="Ubuntu Sans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0" y="2980944"/>
            <a:ext cx="1591056" cy="0"/>
          </a:xfrm>
          <a:prstGeom prst="line">
            <a:avLst/>
          </a:prstGeom>
          <a:ln w="38100">
            <a:solidFill>
              <a:srgbClr val="276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193023" y="2651760"/>
            <a:ext cx="658368" cy="6583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3" y="2651760"/>
            <a:ext cx="65836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B"/>
                </a:solidFill>
                <a:latin typeface="Ubuntu Sans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51392" y="2980944"/>
            <a:ext cx="1591056" cy="0"/>
          </a:xfrm>
          <a:prstGeom prst="line">
            <a:avLst/>
          </a:prstGeom>
          <a:ln w="38100">
            <a:solidFill>
              <a:srgbClr val="276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460736" y="2651760"/>
            <a:ext cx="658368" cy="6583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0736" y="2651760"/>
            <a:ext cx="65836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B"/>
                </a:solidFill>
                <a:latin typeface="Ubuntu Sans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160520"/>
            <a:ext cx="10195560" cy="117043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" y="4160520"/>
            <a:ext cx="73152" cy="1170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4325112"/>
            <a:ext cx="9829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7AE60"/>
                </a:solidFill>
                <a:latin typeface="Ubuntu Sans"/>
              </a:rPr>
              <a:t>IDEIA CENTRAL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8" y="4773168"/>
            <a:ext cx="981151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F7FB"/>
                </a:solidFill>
                <a:latin typeface="Ubuntu Sans"/>
              </a:rPr>
              <a:t>Uma linguagem pode continuar útil em seu domínio e, ao mesmo tempo, transmitir sintaxe, paradigma ou estratégia de implementação a projetos posteriores.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77840"/>
            <a:ext cx="10195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DE2A2"/>
                </a:solidFill>
                <a:latin typeface="Ubuntu Sans"/>
              </a:rPr>
              <a:t>Nova ≠ automaticamente superior  •  antiga ≠ irrelevante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Quatro linguagens, quatro contribuições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Sebesta, cap. 2; conceitos c14–c18; matriz de cobertura Q04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7AE60"/>
                </a:solidFill>
                <a:latin typeface="Ubuntu San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55648"/>
            <a:ext cx="5303520" cy="16459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157984"/>
            <a:ext cx="822960" cy="8229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57984"/>
            <a:ext cx="8229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B"/>
                </a:solidFill>
                <a:latin typeface="Ubuntu Sans"/>
              </a:rPr>
              <a:t>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1095" y="1984248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7AE60"/>
                </a:solidFill>
                <a:latin typeface="Ubuntu Sans"/>
              </a:rPr>
              <a:t>FORTRAN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1095" y="2432304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computação científica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095" y="2834639"/>
            <a:ext cx="3611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7CA"/>
                </a:solidFill>
                <a:latin typeface="Ubuntu Sans"/>
              </a:rPr>
              <a:t>eficiência numérica e fórmulas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55648"/>
            <a:ext cx="5303520" cy="16459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2157984"/>
            <a:ext cx="822960" cy="8229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157984"/>
            <a:ext cx="8229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B"/>
                </a:solidFill>
                <a:latin typeface="Ubuntu Sans"/>
              </a:rPr>
              <a:t>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1984248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7AE60"/>
                </a:solidFill>
                <a:latin typeface="Ubuntu Sans"/>
              </a:rPr>
              <a:t>LISP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2432304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processamento simbólico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2834639"/>
            <a:ext cx="3611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7CA"/>
                </a:solidFill>
                <a:latin typeface="Ubuntu Sans"/>
              </a:rPr>
              <a:t>funções, listas e tradição funcional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3785616"/>
            <a:ext cx="5303520" cy="16459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4187952"/>
            <a:ext cx="822960" cy="8229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187952"/>
            <a:ext cx="8229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B"/>
                </a:solidFill>
                <a:latin typeface="Ubuntu Sans"/>
              </a:rPr>
              <a:t>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11095" y="4014216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7AE60"/>
                </a:solidFill>
                <a:latin typeface="Ubuntu Sans"/>
              </a:rPr>
              <a:t>COBOL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11095" y="4462272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processamento comercial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1095" y="4864608"/>
            <a:ext cx="3611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7CA"/>
                </a:solidFill>
                <a:latin typeface="Ubuntu Sans"/>
              </a:rPr>
              <a:t>dados e registros de negócio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85616"/>
            <a:ext cx="5303520" cy="16459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19672" y="4187952"/>
            <a:ext cx="822960" cy="8229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187952"/>
            <a:ext cx="8229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B"/>
                </a:solidFill>
                <a:latin typeface="Ubuntu Sans"/>
              </a:rPr>
              <a:t>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4014216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7AE60"/>
                </a:solidFill>
                <a:latin typeface="Ubuntu Sans"/>
              </a:rPr>
              <a:t>SMALLTALK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4462272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orientação a objetos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864608"/>
            <a:ext cx="3611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7CA"/>
                </a:solidFill>
                <a:latin typeface="Ubuntu Sans"/>
              </a:rPr>
              <a:t>objetos, mensagens e ambiente integrado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797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DE2A2"/>
                </a:solidFill>
                <a:latin typeface="Ubuntu Sans"/>
              </a:rPr>
              <a:t>A história é uma rede de respostas a domínios — não uma escada única.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Do pioneirismo às famílias híbridas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Sebesta, cap. 2, p. 52–116; conceitos c12–c20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7AE60"/>
                </a:solidFill>
                <a:latin typeface="Ubuntu San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82496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B7CA"/>
                </a:solidFill>
                <a:latin typeface="Ubuntu Sans"/>
              </a:rPr>
              <a:t>LINGUAGEM/FAMÍLIA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82496"/>
            <a:ext cx="3017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B7CA"/>
                </a:solidFill>
                <a:latin typeface="Ubuntu Sans"/>
              </a:rPr>
              <a:t>PROBLEMA/DOMÍNIO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682496"/>
            <a:ext cx="3291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B7CA"/>
                </a:solidFill>
                <a:latin typeface="Ubuntu Sans"/>
              </a:rPr>
              <a:t>LEITURA PRINCIPAL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029968"/>
            <a:ext cx="10881360" cy="457200"/>
          </a:xfrm>
          <a:prstGeom prst="roundRect">
            <a:avLst/>
          </a:prstGeom>
          <a:solidFill>
            <a:srgbClr val="10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12264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7AE60"/>
                </a:solidFill>
                <a:latin typeface="Ubuntu Sans"/>
              </a:rPr>
              <a:t>Plankalkül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112264"/>
            <a:ext cx="3154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ideias de alto nível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112264"/>
            <a:ext cx="3520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A9B7CA"/>
                </a:solidFill>
                <a:latin typeface="Ubuntu Sans"/>
              </a:rPr>
              <a:t>pioneirismo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596896"/>
            <a:ext cx="10881360" cy="457200"/>
          </a:xfrm>
          <a:prstGeom prst="roundRect">
            <a:avLst/>
          </a:prstGeom>
          <a:solidFill>
            <a:srgbClr val="17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79192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7AE60"/>
                </a:solidFill>
                <a:latin typeface="Ubuntu Sans"/>
              </a:rPr>
              <a:t>Fortran / COBOL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2679192"/>
            <a:ext cx="3154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científico / comercial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679192"/>
            <a:ext cx="3520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A9B7CA"/>
                </a:solidFill>
                <a:latin typeface="Ubuntu Sans"/>
              </a:rPr>
              <a:t>imperativo e domínio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63824"/>
            <a:ext cx="10881360" cy="457200"/>
          </a:xfrm>
          <a:prstGeom prst="roundRect">
            <a:avLst/>
          </a:prstGeom>
          <a:solidFill>
            <a:srgbClr val="10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46120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7AE60"/>
                </a:solidFill>
                <a:latin typeface="Ubuntu Sans"/>
              </a:rPr>
              <a:t>Lisp / Scheme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3246120"/>
            <a:ext cx="3154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símbolos e funções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246120"/>
            <a:ext cx="3520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A9B7CA"/>
                </a:solidFill>
                <a:latin typeface="Ubuntu Sans"/>
              </a:rPr>
              <a:t>funcional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730752"/>
            <a:ext cx="10881360" cy="457200"/>
          </a:xfrm>
          <a:prstGeom prst="roundRect">
            <a:avLst/>
          </a:prstGeom>
          <a:solidFill>
            <a:srgbClr val="17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813048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7AE60"/>
                </a:solidFill>
                <a:latin typeface="Ubuntu Sans"/>
              </a:rPr>
              <a:t>APL / SNOBOL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3813048"/>
            <a:ext cx="3154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arrays / strings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813048"/>
            <a:ext cx="3520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A9B7CA"/>
                </a:solidFill>
                <a:latin typeface="Ubuntu Sans"/>
              </a:rPr>
              <a:t>dinamismo e notação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97680"/>
            <a:ext cx="10881360" cy="457200"/>
          </a:xfrm>
          <a:prstGeom prst="roundRect">
            <a:avLst/>
          </a:prstGeom>
          <a:solidFill>
            <a:srgbClr val="10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79976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7AE60"/>
                </a:solidFill>
                <a:latin typeface="Ubuntu Sans"/>
              </a:rPr>
              <a:t>Prolog / Smalltalk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1648" y="4379976"/>
            <a:ext cx="3154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regras / objetos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379976"/>
            <a:ext cx="3520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A9B7CA"/>
                </a:solidFill>
                <a:latin typeface="Ubuntu Sans"/>
              </a:rPr>
              <a:t>lógico / OO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864608"/>
            <a:ext cx="10881360" cy="457200"/>
          </a:xfrm>
          <a:prstGeom prst="roundRect">
            <a:avLst/>
          </a:prstGeom>
          <a:solidFill>
            <a:srgbClr val="17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946904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7AE60"/>
                </a:solidFill>
                <a:latin typeface="Ubuntu Sans"/>
              </a:rPr>
              <a:t>Java / Lua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1648" y="4946904"/>
            <a:ext cx="3154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VM-JIT / scripting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946904"/>
            <a:ext cx="3520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A9B7CA"/>
                </a:solidFill>
                <a:latin typeface="Ubuntu Sans"/>
              </a:rPr>
              <a:t>estratégias híbridas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431536"/>
            <a:ext cx="10881360" cy="457200"/>
          </a:xfrm>
          <a:prstGeom prst="roundRect">
            <a:avLst/>
          </a:prstGeom>
          <a:solidFill>
            <a:srgbClr val="10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513831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7AE60"/>
                </a:solidFill>
                <a:latin typeface="Ubuntu Sans"/>
              </a:rPr>
              <a:t>JSTL / XSLT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41648" y="5513831"/>
            <a:ext cx="3154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documentos e regras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5513831"/>
            <a:ext cx="3520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A9B7CA"/>
                </a:solidFill>
                <a:latin typeface="Ubuntu Sans"/>
              </a:rPr>
              <a:t>marcação + programação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Antes da gramática: alinhe o vocabulário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slides-ch3, slides 3–6; conceitos c21–c23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B51E0"/>
                </a:solidFill>
                <a:latin typeface="Ubuntu San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83080"/>
            <a:ext cx="3474720" cy="11887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783080"/>
            <a:ext cx="73152" cy="1188720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B51E0"/>
                </a:solidFill>
                <a:latin typeface="Ubuntu Sans"/>
              </a:rPr>
              <a:t>SINTAXE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95728"/>
            <a:ext cx="30906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5F7FB"/>
                </a:solidFill>
                <a:latin typeface="Ubuntu Sans"/>
              </a:rPr>
              <a:t>forma e organização das construções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474720" cy="11887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83080"/>
            <a:ext cx="73152" cy="1188720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947672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B51E0"/>
                </a:solidFill>
                <a:latin typeface="Ubuntu Sans"/>
              </a:rPr>
              <a:t>SEMÂNTICA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395728"/>
            <a:ext cx="30906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5F7FB"/>
                </a:solidFill>
                <a:latin typeface="Ubuntu Sans"/>
              </a:rPr>
              <a:t>significado e efeito das construções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783080"/>
            <a:ext cx="3474720" cy="11887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783080"/>
            <a:ext cx="73152" cy="1188720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947672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B51E0"/>
                </a:solidFill>
                <a:latin typeface="Ubuntu Sans"/>
              </a:rPr>
              <a:t>LINGUAGEM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395728"/>
            <a:ext cx="30906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5F7FB"/>
                </a:solidFill>
                <a:latin typeface="Ubuntu Sans"/>
              </a:rPr>
              <a:t>conjunto de sentenças válidas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401568"/>
            <a:ext cx="10917936" cy="11887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30752"/>
            <a:ext cx="2423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AB6FF"/>
                </a:solidFill>
                <a:latin typeface="DejaVu Sans Mono"/>
              </a:rPr>
              <a:t>total = 7;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8444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B7CA"/>
                </a:solidFill>
                <a:latin typeface="Ubuntu Sans"/>
              </a:rPr>
              <a:t>lexema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886200"/>
            <a:ext cx="2487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ocorrência concreta: 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58444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B7CA"/>
                </a:solidFill>
                <a:latin typeface="Ubuntu Sans"/>
              </a:rPr>
              <a:t>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886200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categoria: IDENT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584448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B7CA"/>
                </a:solidFill>
                <a:latin typeface="Ubuntu Sans"/>
              </a:rPr>
              <a:t>sentença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88620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só terminais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57400" y="5074920"/>
            <a:ext cx="8092440" cy="86868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57400" y="5074920"/>
            <a:ext cx="73152" cy="868680"/>
          </a:xfrm>
          <a:prstGeom prst="rect">
            <a:avLst/>
          </a:prstGeom>
          <a:solidFill>
            <a:srgbClr val="BB6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58568" y="5193792"/>
            <a:ext cx="772667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B6BD9"/>
                </a:solidFill>
                <a:latin typeface="Ubuntu Sans"/>
              </a:rPr>
              <a:t>NÃO CONFUNDA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8568" y="5504688"/>
            <a:ext cx="7708392" cy="3749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Lexema é o trecho reconhecido; token é a classificação entregue ao parser.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FNB: a anatomia de uma gramática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slides-ch3, slides 7–14; conceitos c24–c26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B51E0"/>
                </a:solidFill>
                <a:latin typeface="Ubuntu San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6446520" cy="3584448"/>
          </a:xfrm>
          <a:prstGeom prst="roundRect">
            <a:avLst/>
          </a:prstGeom>
          <a:solidFill>
            <a:srgbClr val="0B1524"/>
          </a:solidFill>
          <a:ln w="12700">
            <a:solidFill>
              <a:srgbClr val="49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48840"/>
            <a:ext cx="5806440" cy="2286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6D5FF"/>
                </a:solidFill>
                <a:latin typeface="DejaVu Sans Mono"/>
              </a:rPr>
              <a:t>&lt;atr&gt;  ::= &lt;id&gt; "=" &lt;expr&gt; ";"
&lt;expr&gt; ::= &lt;num&gt; | &lt;num&gt; "+" &lt;num&gt;
&lt;id&gt;   ::= "a" | "b"
&lt;num&gt;  ::= "1" | "2"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773168"/>
            <a:ext cx="1417320" cy="310896"/>
          </a:xfrm>
          <a:prstGeom prst="roundRect">
            <a:avLst/>
          </a:prstGeom>
          <a:solidFill>
            <a:srgbClr val="4B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82312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buntu Sans"/>
              </a:rPr>
              <a:t>NÃO TERMINAIS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4809744"/>
            <a:ext cx="4069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7FB"/>
                </a:solidFill>
                <a:latin typeface="DejaVu Sans Mono"/>
              </a:rPr>
              <a:t>&lt;atr&gt; &lt;id&gt; &lt;expr&gt; &lt;num&gt;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783080"/>
            <a:ext cx="4069080" cy="80467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1783080"/>
            <a:ext cx="73152" cy="804672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8" y="1901952"/>
            <a:ext cx="3703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B51E0"/>
                </a:solidFill>
                <a:latin typeface="Ubuntu Sans"/>
              </a:rPr>
              <a:t>TERMINAIS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8" y="2212848"/>
            <a:ext cx="3685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7FB"/>
                </a:solidFill>
                <a:latin typeface="Ubuntu Sans"/>
              </a:rPr>
              <a:t>a, b, 1, 2, =, +, 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807208"/>
            <a:ext cx="4069080" cy="80467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2807208"/>
            <a:ext cx="73152" cy="804672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926080"/>
            <a:ext cx="3703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B51E0"/>
                </a:solidFill>
                <a:latin typeface="Ubuntu Sans"/>
              </a:rPr>
              <a:t>PRODUÇÃO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236976"/>
            <a:ext cx="3685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7FB"/>
                </a:solidFill>
                <a:latin typeface="Ubuntu Sans"/>
              </a:rPr>
              <a:t>define alternativas possíveis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3831336"/>
            <a:ext cx="4069080" cy="80467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3831336"/>
            <a:ext cx="73152" cy="804672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8" y="3950208"/>
            <a:ext cx="3703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B51E0"/>
                </a:solidFill>
                <a:latin typeface="Ubuntu Sans"/>
              </a:rPr>
              <a:t>|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8" y="4261104"/>
            <a:ext cx="3685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7FB"/>
                </a:solidFill>
                <a:latin typeface="Ubuntu Sans"/>
              </a:rPr>
              <a:t>significa “ou”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855464"/>
            <a:ext cx="4069080" cy="80467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4855464"/>
            <a:ext cx="73152" cy="804672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974336"/>
            <a:ext cx="3703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B51E0"/>
                </a:solidFill>
                <a:latin typeface="Ubuntu Sans"/>
              </a:rPr>
              <a:t>SÍMBOLO INICIAL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285232"/>
            <a:ext cx="3685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7FB"/>
                </a:solidFill>
                <a:latin typeface="Ubuntu Sans"/>
              </a:rPr>
              <a:t>ponto de partida: &lt;atr&gt;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Derivação completa: do símbolo à sentença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slides-ch3, slides 11–15; conceitos c25–c27; exemplo autoral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B51E0"/>
                </a:solidFill>
                <a:latin typeface="Ubuntu San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3291840" cy="105156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49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11095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B51E0"/>
                </a:solidFill>
                <a:latin typeface="Ubuntu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167128"/>
            <a:ext cx="2670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DejaVu Sans Mono"/>
              </a:rPr>
              <a:t>&lt;atr&gt;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130552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B51E0"/>
                </a:solidFill>
                <a:latin typeface="Ubuntu Sans"/>
              </a:rPr>
              <a:t>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783080"/>
            <a:ext cx="3291840" cy="105156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49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11095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B51E0"/>
                </a:solidFill>
                <a:latin typeface="Ubunt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2167128"/>
            <a:ext cx="2670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5F7FB"/>
                </a:solidFill>
                <a:latin typeface="DejaVu Sans Mono"/>
              </a:rPr>
              <a:t>&lt;id&gt; = &lt;expr&gt; 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2130552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B51E0"/>
                </a:solidFill>
                <a:latin typeface="Ubuntu Sans"/>
              </a:rPr>
              <a:t>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783080"/>
            <a:ext cx="3291840" cy="105156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49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911095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B51E0"/>
                </a:solidFill>
                <a:latin typeface="Ubuntu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167128"/>
            <a:ext cx="2670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5F7FB"/>
                </a:solidFill>
                <a:latin typeface="DejaVu Sans Mono"/>
              </a:rPr>
              <a:t>b = &lt;expr&gt; 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355848"/>
            <a:ext cx="3291840" cy="105156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49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483864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B51E0"/>
                </a:solidFill>
                <a:latin typeface="Ubuntu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3739896"/>
            <a:ext cx="2670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5F7FB"/>
                </a:solidFill>
                <a:latin typeface="DejaVu Sans Mono"/>
              </a:rPr>
              <a:t>b = &lt;num&gt; + &lt;num&gt; 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703320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B51E0"/>
                </a:solidFill>
                <a:latin typeface="Ubuntu Sans"/>
              </a:rPr>
              <a:t>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355848"/>
            <a:ext cx="3291840" cy="105156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49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3483864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B51E0"/>
                </a:solidFill>
                <a:latin typeface="Ubuntu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3739896"/>
            <a:ext cx="2670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5F7FB"/>
                </a:solidFill>
                <a:latin typeface="DejaVu Sans Mono"/>
              </a:rPr>
              <a:t>b = 1 + &lt;num&gt; 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8" y="3703320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B51E0"/>
                </a:solidFill>
                <a:latin typeface="Ubuntu Sans"/>
              </a:rPr>
              <a:t>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47888" y="3355848"/>
            <a:ext cx="3291840" cy="105156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49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3483864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B51E0"/>
                </a:solidFill>
                <a:latin typeface="Ubuntu Sa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739896"/>
            <a:ext cx="2670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7FB"/>
                </a:solidFill>
                <a:latin typeface="DejaVu Sans Mono"/>
              </a:rPr>
              <a:t>b = 1 + 2 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5074920"/>
            <a:ext cx="8549640" cy="9144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5074920"/>
            <a:ext cx="73152" cy="914400"/>
          </a:xfrm>
          <a:prstGeom prst="rect">
            <a:avLst/>
          </a:prstGeom>
          <a:solidFill>
            <a:srgbClr val="BB6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9968" y="5193792"/>
            <a:ext cx="818387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B6BD9"/>
                </a:solidFill>
                <a:latin typeface="Ubuntu Sans"/>
              </a:rPr>
              <a:t>TESTE DE CHEGADA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9968" y="5504688"/>
            <a:ext cx="8165592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5F7FB"/>
                </a:solidFill>
                <a:latin typeface="Ubuntu Sans"/>
              </a:rPr>
              <a:t>Forma sentencial pode conter não terminais. Sentença é uma forma composta apenas por terminais.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Árvore, ambiguidade e FNB estendida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slides-ch3, slides 15–21; conceitos c27–c29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B51E0"/>
                </a:solidFill>
                <a:latin typeface="Ubuntu San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55648"/>
            <a:ext cx="2834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B51E0"/>
                </a:solidFill>
                <a:latin typeface="Ubuntu Sans"/>
              </a:rPr>
              <a:t>Ambiguidade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31720"/>
            <a:ext cx="28803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Ubuntu Sans"/>
              </a:rPr>
              <a:t>uma sentença
→ duas árvores
→ dois agrupamentos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959352"/>
            <a:ext cx="2514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6D5FF"/>
                </a:solidFill>
                <a:latin typeface="DejaVu Sans Mono"/>
              </a:rPr>
              <a:t>1 − 2 /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45152"/>
            <a:ext cx="2971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7FB"/>
                </a:solidFill>
                <a:latin typeface="DejaVu Sans Mono"/>
              </a:rPr>
              <a:t>(1−2)/3  ≠  1−(2/3)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755648"/>
            <a:ext cx="27432" cy="4069080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755648"/>
            <a:ext cx="3840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B51E0"/>
                </a:solidFill>
                <a:latin typeface="Ubuntu Sans"/>
              </a:rPr>
              <a:t>FNBE compacta padrões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23160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6D5FF"/>
                </a:solidFill>
                <a:latin typeface="DejaVu Sans Mono"/>
              </a:rPr>
              <a:t>[ item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441448"/>
            <a:ext cx="3291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opcional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264408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6D5FF"/>
                </a:solidFill>
                <a:latin typeface="DejaVu Sans Mono"/>
              </a:rPr>
              <a:t>{ item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282696"/>
            <a:ext cx="3291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zero ou mais repetições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05656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6D5FF"/>
                </a:solidFill>
                <a:latin typeface="DejaVu Sans Mono"/>
              </a:rPr>
              <a:t>( a | b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123944"/>
            <a:ext cx="3291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agrupamento e alternativa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983480"/>
            <a:ext cx="6510528" cy="84124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4983480"/>
            <a:ext cx="73152" cy="841248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7" y="5102352"/>
            <a:ext cx="61447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B51E0"/>
                </a:solidFill>
                <a:latin typeface="Ubuntu Sans"/>
              </a:rPr>
              <a:t>DESAMBIGUAR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7" y="5413248"/>
            <a:ext cx="6126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Ubuntu Sans"/>
              </a:rPr>
              <a:t>Organize níveis como &lt;expr&gt; e &lt;termo&gt; para representar precedência e associatividade.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Três maneiras de descrever significado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slides-ch3, slides 24–49; conceitos c21 e c30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B51E0"/>
                </a:solidFill>
                <a:latin typeface="Ubuntu San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83080"/>
            <a:ext cx="3438144" cy="239572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993392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B51E0"/>
                </a:solidFill>
                <a:latin typeface="Ubuntu Sans"/>
              </a:rPr>
              <a:t>OPERACIONAL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578608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Ubuntu Sans"/>
              </a:rPr>
              <a:t>execução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2834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A9B7CA"/>
                </a:solidFill>
                <a:latin typeface="Ubuntu Sans"/>
              </a:rPr>
              <a:t>Descreve mudanças em uma máquina abstrata ou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38144" cy="239572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993392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B51E0"/>
                </a:solidFill>
                <a:latin typeface="Ubuntu Sans"/>
              </a:rPr>
              <a:t>DENOTACIONAL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578608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Ubuntu Sans"/>
              </a:rPr>
              <a:t>função matemática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246120"/>
            <a:ext cx="2834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A9B7CA"/>
                </a:solidFill>
                <a:latin typeface="Ubuntu Sans"/>
              </a:rPr>
              <a:t>Mapeia construções para objetos e funções matemáticas.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783080"/>
            <a:ext cx="3438144" cy="239572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993392"/>
            <a:ext cx="303580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B51E0"/>
                </a:solidFill>
                <a:latin typeface="Ubuntu Sans"/>
              </a:rPr>
              <a:t>AXIOMÁTICA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578608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Ubuntu Sans"/>
              </a:rPr>
              <a:t>propriedades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3246120"/>
            <a:ext cx="2834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A9B7CA"/>
                </a:solidFill>
                <a:latin typeface="Ubuntu Sans"/>
              </a:rPr>
              <a:t>Usa asserções, pré/pós-condições e regras de inferência.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663440"/>
            <a:ext cx="9912096" cy="102412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663440"/>
            <a:ext cx="73152" cy="1024128"/>
          </a:xfrm>
          <a:prstGeom prst="rect">
            <a:avLst/>
          </a:prstGeom>
          <a:solidFill>
            <a:srgbClr val="BB6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4168" y="4828031"/>
            <a:ext cx="95463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B6BD9"/>
                </a:solidFill>
                <a:latin typeface="Ubuntu Sans"/>
              </a:rPr>
              <a:t>OUTRA DIVISÃO ÚTIL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5276088"/>
            <a:ext cx="9528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F7FB"/>
                </a:solidFill>
                <a:latin typeface="Ubuntu Sans"/>
              </a:rPr>
              <a:t>Semântica estática: restrições verificáveis sem executar. Semântica dinâmica: significado durante a execução.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Léxico e parser: cooperação, não duplicação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slides-ch4, slides 4–18; conceitos c31–c35; exemplo autoral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994A"/>
                </a:solidFill>
                <a:latin typeface="Ubuntu San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2743200" cy="914400"/>
          </a:xfrm>
          <a:prstGeom prst="roundRect">
            <a:avLst/>
          </a:prstGeom>
          <a:solidFill>
            <a:srgbClr val="152236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075688"/>
            <a:ext cx="2377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B"/>
                </a:solidFill>
                <a:latin typeface="DejaVu Sans Mono"/>
              </a:rPr>
              <a:t>soma = n + 10;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04825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2994A"/>
                </a:solidFill>
                <a:latin typeface="Ubuntu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783080"/>
            <a:ext cx="2880360" cy="914400"/>
          </a:xfrm>
          <a:prstGeom prst="roundRect">
            <a:avLst/>
          </a:prstGeom>
          <a:solidFill>
            <a:srgbClr val="4D351D"/>
          </a:solidFill>
          <a:ln w="12700">
            <a:solidFill>
              <a:srgbClr val="805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1993392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C783"/>
                </a:solidFill>
                <a:latin typeface="Ubuntu Sans"/>
              </a:rPr>
              <a:t>ANALISADOR LÉXICO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2313432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7FB"/>
                </a:solidFill>
                <a:latin typeface="Ubuntu Sans"/>
              </a:rPr>
              <a:t>padrões →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204825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2994A"/>
                </a:solidFill>
                <a:latin typeface="Ubuntu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783080"/>
            <a:ext cx="2880360" cy="914400"/>
          </a:xfrm>
          <a:prstGeom prst="roundRect">
            <a:avLst/>
          </a:prstGeom>
          <a:solidFill>
            <a:srgbClr val="4D351D"/>
          </a:solidFill>
          <a:ln w="12700">
            <a:solidFill>
              <a:srgbClr val="805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1" y="1993392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C783"/>
                </a:solidFill>
                <a:latin typeface="Ubuntu Sans"/>
              </a:rPr>
              <a:t>PARSER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2313432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7FB"/>
                </a:solidFill>
                <a:latin typeface="Ubuntu Sans"/>
              </a:rPr>
              <a:t>gramática → estrutura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364992"/>
            <a:ext cx="1554480" cy="10058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547872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DejaVu Sans Mono"/>
              </a:rPr>
              <a:t>soma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3986784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994A"/>
                </a:solidFill>
                <a:latin typeface="Ubuntu Sans"/>
              </a:rPr>
              <a:t>IDENT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3364992"/>
            <a:ext cx="1554480" cy="10058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7752" y="3547872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DejaVu Sans Mono"/>
              </a:rPr>
              <a:t>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7752" y="3986784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994A"/>
                </a:solidFill>
                <a:latin typeface="Ubuntu Sans"/>
              </a:rPr>
              <a:t>ATRIB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3364992"/>
            <a:ext cx="1554480" cy="10058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547872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DejaVu Sans Mono"/>
              </a:rPr>
              <a:t>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986784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994A"/>
                </a:solidFill>
                <a:latin typeface="Ubuntu Sans"/>
              </a:rPr>
              <a:t>IDENT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3364992"/>
            <a:ext cx="1554480" cy="10058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3547872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DejaVu Sans Mono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3986784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994A"/>
                </a:solidFill>
                <a:latin typeface="Ubuntu Sans"/>
              </a:rPr>
              <a:t>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55864" y="3364992"/>
            <a:ext cx="1554480" cy="10058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9016" y="3547872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9016" y="3986784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994A"/>
                </a:solidFill>
                <a:latin typeface="Ubuntu Sans"/>
              </a:rPr>
              <a:t>LITERAL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02952" y="3364992"/>
            <a:ext cx="1554480" cy="10058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76104" y="3547872"/>
            <a:ext cx="14081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DejaVu Sans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6104" y="3986784"/>
            <a:ext cx="14081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994A"/>
                </a:solidFill>
                <a:latin typeface="Ubuntu Sans"/>
              </a:rPr>
              <a:t>DELIM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720" y="4983480"/>
            <a:ext cx="9784080" cy="86868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8720" y="4983480"/>
            <a:ext cx="73152" cy="8686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89888" y="5102352"/>
            <a:ext cx="941831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994A"/>
                </a:solidFill>
                <a:latin typeface="Ubuntu Sans"/>
              </a:rPr>
              <a:t>DIVISÃO DE TRABALHO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5413248"/>
            <a:ext cx="9400032" cy="3749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5F7FB"/>
                </a:solidFill>
                <a:latin typeface="Ubuntu Sans"/>
              </a:rPr>
              <a:t>O léxico reduz detalhes de caracteres. O parser verifica se a sequência de tokens pertence à estrutura da gramática.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Descendente × ascendente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slides-ch4, slides 19–26 e 42; conceitos c36 e c39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994A"/>
                </a:solidFill>
                <a:latin typeface="Ubuntu San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5257800" cy="3977639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805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365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2994A"/>
                </a:solidFill>
                <a:latin typeface="Ubuntu Sans"/>
              </a:rPr>
              <a:t>DESCENDENTE</a:t>
            </a:r>
          </a:p>
        </p:txBody>
      </p:sp>
      <p:sp>
        <p:nvSpPr>
          <p:cNvPr id="11" name="Oval 10"/>
          <p:cNvSpPr/>
          <p:nvPr/>
        </p:nvSpPr>
        <p:spPr>
          <a:xfrm>
            <a:off x="2697480" y="2670048"/>
            <a:ext cx="1143000" cy="1143000"/>
          </a:xfrm>
          <a:prstGeom prst="ellipse">
            <a:avLst/>
          </a:prstGeom>
          <a:solidFill>
            <a:srgbClr val="8A5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670048"/>
            <a:ext cx="1143000" cy="11430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RAIZ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965960" y="3813048"/>
            <a:ext cx="1005840" cy="530352"/>
          </a:xfrm>
          <a:prstGeom prst="line">
            <a:avLst/>
          </a:prstGeom>
          <a:ln w="3810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66160" y="3813048"/>
            <a:ext cx="1005840" cy="530352"/>
          </a:xfrm>
          <a:prstGeom prst="line">
            <a:avLst/>
          </a:prstGeom>
          <a:ln w="3810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5840" y="489204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B"/>
                </a:solidFill>
                <a:latin typeface="Ubuntu Sans"/>
              </a:rPr>
              <a:t>expande produções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B7CA"/>
                </a:solidFill>
                <a:latin typeface="Ubuntu Sans"/>
              </a:rPr>
              <a:t>derivação mais à esquerda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5257800" cy="3977639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805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011680"/>
            <a:ext cx="47365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2994A"/>
                </a:solidFill>
                <a:latin typeface="Ubuntu Sans"/>
              </a:rPr>
              <a:t>ASCENDENTE</a:t>
            </a:r>
          </a:p>
        </p:txBody>
      </p:sp>
      <p:sp>
        <p:nvSpPr>
          <p:cNvPr id="19" name="Oval 18"/>
          <p:cNvSpPr/>
          <p:nvPr/>
        </p:nvSpPr>
        <p:spPr>
          <a:xfrm>
            <a:off x="7022592" y="4096512"/>
            <a:ext cx="914400" cy="914400"/>
          </a:xfrm>
          <a:prstGeom prst="ellipse">
            <a:avLst/>
          </a:prstGeom>
          <a:solidFill>
            <a:srgbClr val="8A5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4096512"/>
            <a:ext cx="91440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B"/>
                </a:solidFill>
                <a:latin typeface="Ubuntu Sans"/>
              </a:rPr>
              <a:t>id</a:t>
            </a:r>
          </a:p>
        </p:txBody>
      </p:sp>
      <p:sp>
        <p:nvSpPr>
          <p:cNvPr id="21" name="Oval 20"/>
          <p:cNvSpPr/>
          <p:nvPr/>
        </p:nvSpPr>
        <p:spPr>
          <a:xfrm>
            <a:off x="8439912" y="4096512"/>
            <a:ext cx="914400" cy="914400"/>
          </a:xfrm>
          <a:prstGeom prst="ellipse">
            <a:avLst/>
          </a:prstGeom>
          <a:solidFill>
            <a:srgbClr val="8A5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4096512"/>
            <a:ext cx="91440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B"/>
                </a:solidFill>
                <a:latin typeface="Ubuntu Sans"/>
              </a:rPr>
              <a:t>+</a:t>
            </a:r>
          </a:p>
        </p:txBody>
      </p:sp>
      <p:sp>
        <p:nvSpPr>
          <p:cNvPr id="23" name="Oval 22"/>
          <p:cNvSpPr/>
          <p:nvPr/>
        </p:nvSpPr>
        <p:spPr>
          <a:xfrm>
            <a:off x="9857232" y="4096512"/>
            <a:ext cx="914400" cy="914400"/>
          </a:xfrm>
          <a:prstGeom prst="ellipse">
            <a:avLst/>
          </a:prstGeom>
          <a:solidFill>
            <a:srgbClr val="8A5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7232" y="4096512"/>
            <a:ext cx="91440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B"/>
                </a:solidFill>
                <a:latin typeface="Ubuntu Sans"/>
              </a:rPr>
              <a:t>num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479792" y="2971800"/>
            <a:ext cx="1417320" cy="1069848"/>
          </a:xfrm>
          <a:prstGeom prst="line">
            <a:avLst/>
          </a:prstGeom>
          <a:ln w="3810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8897112" y="2971800"/>
            <a:ext cx="1417320" cy="1069848"/>
          </a:xfrm>
          <a:prstGeom prst="line">
            <a:avLst/>
          </a:prstGeom>
          <a:ln w="3810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11112" y="489204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B"/>
                </a:solidFill>
                <a:latin typeface="Ubuntu Sans"/>
              </a:rPr>
              <a:t>reduz até o inicial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5303520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B7CA"/>
                </a:solidFill>
                <a:latin typeface="Ubuntu Sans"/>
              </a:rPr>
              <a:t>inverso da derivação à direita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Decidir a regra sem cair em recursão infinita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slides-ch4, slides 31–38; conceitos c37 e c38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994A"/>
                </a:solidFill>
                <a:latin typeface="Ubuntu San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3657600" cy="132588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13258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47672"/>
            <a:ext cx="3291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994A"/>
                </a:solidFill>
                <a:latin typeface="Ubuntu Sans"/>
              </a:rPr>
              <a:t>LOOKAHEAD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95728"/>
            <a:ext cx="327355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5F7FB"/>
                </a:solidFill>
                <a:latin typeface="Ubuntu Sans"/>
              </a:rPr>
              <a:t>O próximo token ajuda o parser descendente a escolher qual produção aplicar.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D5A4"/>
                </a:solidFill>
                <a:latin typeface="DejaVu Sans Mono"/>
              </a:rPr>
              <a:t>se token = id → escolha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783080"/>
            <a:ext cx="6812280" cy="3611880"/>
          </a:xfrm>
          <a:prstGeom prst="roundRect">
            <a:avLst/>
          </a:prstGeom>
          <a:solidFill>
            <a:srgbClr val="0B1524"/>
          </a:solidFill>
          <a:ln w="12700">
            <a:solidFill>
              <a:srgbClr val="805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2011680"/>
            <a:ext cx="3063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994A"/>
                </a:solidFill>
                <a:latin typeface="Ubuntu Sans"/>
              </a:rPr>
              <a:t>RECURSÃO À ESQUERDA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633472"/>
            <a:ext cx="2514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D5A4"/>
                </a:solidFill>
                <a:latin typeface="DejaVu Sans Mono"/>
              </a:rPr>
              <a:t>E → E + T |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2423160"/>
            <a:ext cx="324612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7FB"/>
                </a:solidFill>
                <a:latin typeface="Ubuntu Sans"/>
              </a:rPr>
              <a:t>E chama E antes de consumir entrada
→ recursão infinita no parser recursivo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1768" y="3675887"/>
            <a:ext cx="6144768" cy="36576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3968496"/>
            <a:ext cx="1051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9B7CA"/>
                </a:solidFill>
                <a:latin typeface="Ubuntu Sans"/>
              </a:rPr>
              <a:t>Reescrita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3913632"/>
            <a:ext cx="29718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9FE2B7"/>
                </a:solidFill>
                <a:latin typeface="DejaVu Sans Mono"/>
              </a:rPr>
              <a:t>E  → T E'
E' → + T E' | 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4142232"/>
            <a:ext cx="19019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E2B7"/>
                </a:solidFill>
                <a:latin typeface="Ubuntu Sans"/>
              </a:rPr>
              <a:t>consome T primeiro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504688"/>
            <a:ext cx="9372600" cy="64008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5504688"/>
            <a:ext cx="73152" cy="6400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72768" y="5605272"/>
            <a:ext cx="205740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994A"/>
                </a:solidFill>
                <a:latin typeface="Ubuntu Sans"/>
              </a:rPr>
              <a:t>REGRA PRÁTICA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596127"/>
            <a:ext cx="6876288" cy="493775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F5F7FB"/>
                </a:solidFill>
                <a:latin typeface="Ubuntu Sans"/>
              </a:rPr>
              <a:t>Gramáticas para análise descendente devem ser ajustadas para eliminar recursão à esquerda.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Parser LR: estado + símbolo = decisão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slides-ch4, slides 49–56; conceito c40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994A"/>
                </a:solidFill>
                <a:latin typeface="Ubuntu San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47088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9B7CA"/>
                </a:solidFill>
                <a:latin typeface="Ubuntu Sans"/>
              </a:rPr>
              <a:t>pilha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67712"/>
            <a:ext cx="1143000" cy="29718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782312"/>
            <a:ext cx="850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B"/>
                </a:solidFill>
                <a:latin typeface="DejaVu Sans Mono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79392"/>
            <a:ext cx="850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B"/>
                </a:solidFill>
                <a:latin typeface="DejaVu Sans Mono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776472"/>
            <a:ext cx="850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B"/>
                </a:solidFill>
                <a:latin typeface="DejaVu Sans Mono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273552"/>
            <a:ext cx="850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B"/>
                </a:solidFill>
                <a:latin typeface="DejaVu Sans Mono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770632"/>
            <a:ext cx="8503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B"/>
                </a:solidFill>
                <a:latin typeface="DejaVu Sans Mono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898648"/>
            <a:ext cx="2057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DejaVu Sans Mono"/>
              </a:rPr>
              <a:t>+  num 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331720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9B7CA"/>
                </a:solidFill>
                <a:latin typeface="Ubuntu Sans"/>
              </a:rPr>
              <a:t>entrada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670048"/>
            <a:ext cx="1965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Ubuntu Sans"/>
              </a:rPr>
              <a:t>estado no topo
+ próximo símbolo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852928"/>
            <a:ext cx="411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994A"/>
                </a:solidFill>
                <a:latin typeface="Ubuntu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847088"/>
            <a:ext cx="4160520" cy="14173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86600" y="1847088"/>
            <a:ext cx="73152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8" y="2011680"/>
            <a:ext cx="379475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994A"/>
                </a:solidFill>
                <a:latin typeface="Ubuntu Sans"/>
              </a:rPr>
              <a:t>ACTION [estado, terminal]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459736"/>
            <a:ext cx="3776472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shift • reduce • accept • erro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611880"/>
            <a:ext cx="4160520" cy="14173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86600" y="3611880"/>
            <a:ext cx="73152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3776472"/>
            <a:ext cx="379475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994A"/>
                </a:solidFill>
                <a:latin typeface="Ubuntu Sans"/>
              </a:rPr>
              <a:t>GOTO [estado, não terminal]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4224528"/>
            <a:ext cx="3776472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7FB"/>
                </a:solidFill>
                <a:latin typeface="Ubuntu Sans"/>
              </a:rPr>
              <a:t>novo estado depois de uma redução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5650992"/>
            <a:ext cx="8549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D5A4"/>
                </a:solidFill>
                <a:latin typeface="Ubuntu Sans"/>
              </a:rPr>
              <a:t>ACTION decide a ação. GOTO conduz a estrutura reduzida.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Variável = entidade + seis atributos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slides-ch5, slides 9–22; conceitos c42–c47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B5757"/>
                </a:solidFill>
                <a:latin typeface="Ubuntu Sans"/>
              </a:rPr>
              <a:t>20</a:t>
            </a:r>
          </a:p>
        </p:txBody>
      </p:sp>
      <p:sp>
        <p:nvSpPr>
          <p:cNvPr id="9" name="Oval 8"/>
          <p:cNvSpPr/>
          <p:nvPr/>
        </p:nvSpPr>
        <p:spPr>
          <a:xfrm>
            <a:off x="5093208" y="2331720"/>
            <a:ext cx="1965960" cy="1965960"/>
          </a:xfrm>
          <a:prstGeom prst="ellipse">
            <a:avLst/>
          </a:prstGeom>
          <a:solidFill>
            <a:srgbClr val="7A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93208" y="2331720"/>
            <a:ext cx="1965960" cy="1965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7FB"/>
                </a:solidFill>
                <a:latin typeface="Ubuntu Sans"/>
              </a:rPr>
              <a:t>VAR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74519"/>
            <a:ext cx="2331720" cy="6858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7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39112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nome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39112" y="2560320"/>
            <a:ext cx="4041648" cy="749808"/>
          </a:xfrm>
          <a:prstGeom prst="line">
            <a:avLst/>
          </a:prstGeom>
          <a:ln w="25400">
            <a:solidFill>
              <a:srgbClr val="87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" y="4160520"/>
            <a:ext cx="2331720" cy="6858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7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325112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endereço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039112" y="3310128"/>
            <a:ext cx="4041648" cy="850392"/>
          </a:xfrm>
          <a:prstGeom prst="line">
            <a:avLst/>
          </a:prstGeom>
          <a:ln w="25400">
            <a:solidFill>
              <a:srgbClr val="87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94760" y="5166360"/>
            <a:ext cx="2331720" cy="6858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7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5330952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tipo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965192" y="3310128"/>
            <a:ext cx="1115568" cy="1856232"/>
          </a:xfrm>
          <a:prstGeom prst="line">
            <a:avLst/>
          </a:prstGeom>
          <a:ln w="25400">
            <a:solidFill>
              <a:srgbClr val="87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863840" y="5166360"/>
            <a:ext cx="2331720" cy="6858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7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5330952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valor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6080760" y="3310128"/>
            <a:ext cx="2953512" cy="1856232"/>
          </a:xfrm>
          <a:prstGeom prst="line">
            <a:avLst/>
          </a:prstGeom>
          <a:ln w="25400">
            <a:solidFill>
              <a:srgbClr val="87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32520" y="3703320"/>
            <a:ext cx="2331720" cy="6858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7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3867911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tempo de vida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6080760" y="3310128"/>
            <a:ext cx="3822192" cy="393192"/>
          </a:xfrm>
          <a:prstGeom prst="line">
            <a:avLst/>
          </a:prstGeom>
          <a:ln w="25400">
            <a:solidFill>
              <a:srgbClr val="87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32520" y="1600200"/>
            <a:ext cx="2331720" cy="6858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7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1764792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Ubuntu Sans"/>
              </a:rPr>
              <a:t>escopo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080760" y="2286000"/>
            <a:ext cx="3822192" cy="1024128"/>
          </a:xfrm>
          <a:prstGeom prst="line">
            <a:avLst/>
          </a:prstGeom>
          <a:ln w="25400">
            <a:solidFill>
              <a:srgbClr val="87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16552" y="1691640"/>
            <a:ext cx="1600200" cy="310896"/>
          </a:xfrm>
          <a:prstGeom prst="roundRect">
            <a:avLst/>
          </a:prstGeom>
          <a:solidFill>
            <a:srgbClr val="7A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6552" y="1700784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VINCULAÇÃO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2057400"/>
            <a:ext cx="3063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B7CA"/>
                </a:solidFill>
                <a:latin typeface="Ubuntu Sans"/>
              </a:rPr>
              <a:t>associação entre atributo e entidade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5870448"/>
            <a:ext cx="7818120" cy="50292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94560" y="5870448"/>
            <a:ext cx="73152" cy="502920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95728" y="5971032"/>
            <a:ext cx="205740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EB5757"/>
                </a:solidFill>
                <a:latin typeface="Ubuntu Sans"/>
              </a:rPr>
              <a:t>TEMPO DE VINCULAÇÃO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5961888"/>
            <a:ext cx="5321808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7FB"/>
                </a:solidFill>
                <a:latin typeface="Ubuntu Sans"/>
              </a:rPr>
              <a:t>projeto da linguagem • implementação • compilação • carga • execução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Categorias por tempo de vida e armazenamento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slides-ch5, slides 23–26; conceitos c47 e c48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B5757"/>
                </a:solidFill>
                <a:latin typeface="Ubuntu Sans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9B7CA"/>
                </a:solidFill>
                <a:latin typeface="Ubuntu Sans"/>
              </a:rPr>
              <a:t>CATEGORIA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664208"/>
            <a:ext cx="2834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9B7CA"/>
                </a:solidFill>
                <a:latin typeface="Ubuntu Sans"/>
              </a:rPr>
              <a:t>ALOCAÇÃO / VIDA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66420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9B7CA"/>
                </a:solidFill>
                <a:latin typeface="Ubuntu Sans"/>
              </a:rPr>
              <a:t>EXEMPLO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664208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9B7CA"/>
                </a:solidFill>
                <a:latin typeface="Ubuntu Sans"/>
              </a:rPr>
              <a:t>TROCA PRINCIPAL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011680"/>
            <a:ext cx="10972800" cy="658368"/>
          </a:xfrm>
          <a:prstGeom prst="roundRect">
            <a:avLst/>
          </a:prstGeom>
          <a:solidFill>
            <a:srgbClr val="10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5798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EB5757"/>
                </a:solidFill>
                <a:latin typeface="Ubuntu Sans"/>
              </a:rPr>
              <a:t>estática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157984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antes da execução; vida inteira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157984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static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57984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eficiência ↔ flexibilidade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852928"/>
            <a:ext cx="10972800" cy="658368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7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999232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EB5757"/>
                </a:solidFill>
                <a:latin typeface="Ubuntu Sans"/>
              </a:rPr>
              <a:t>dinâmica da pilha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99923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entrada do bloco; até o retorno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999232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variável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99923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recursão ↔ overhead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3694176"/>
            <a:ext cx="10972800" cy="658368"/>
          </a:xfrm>
          <a:prstGeom prst="roundRect">
            <a:avLst/>
          </a:prstGeom>
          <a:solidFill>
            <a:srgbClr val="10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40480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EB5757"/>
                </a:solidFill>
                <a:latin typeface="Ubuntu Sans"/>
              </a:rPr>
              <a:t>heap explícita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840480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new/delete ou referência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3840480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objeto dinâmico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84048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estrutura ↔ complexidade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4535424"/>
            <a:ext cx="10972800" cy="658368"/>
          </a:xfrm>
          <a:prstGeom prst="roundRect">
            <a:avLst/>
          </a:prstGeom>
          <a:solidFill>
            <a:srgbClr val="17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681728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EB5757"/>
                </a:solidFill>
                <a:latin typeface="Ubuntu Sans"/>
              </a:rPr>
              <a:t>heap implícita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681728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atribuições controlam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4681728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variável dinâmica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681728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5F7FB"/>
                </a:solidFill>
                <a:latin typeface="Ubuntu Sans"/>
              </a:rPr>
              <a:t>flexibilidade ↔ detecção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" y="5486400"/>
            <a:ext cx="9893808" cy="749808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" y="5486400"/>
            <a:ext cx="73152" cy="749808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44168" y="5605272"/>
            <a:ext cx="95280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B5757"/>
                </a:solidFill>
                <a:latin typeface="Ubuntu Sans"/>
              </a:rPr>
              <a:t>CASO-CHAVE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4168" y="5916168"/>
            <a:ext cx="9509760" cy="25603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7FB"/>
                </a:solidFill>
                <a:latin typeface="Ubuntu Sans"/>
              </a:rPr>
              <a:t>Local comum = dinâmica da pilha. O endereço pode mudar porque cada ativação recebe um novo registro de ativação.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Escopo responde “qual declaração este nome encontra?”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slides-ch5, slides 27–42; conceitos c49 e c50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B5757"/>
                </a:solidFill>
                <a:latin typeface="Ubuntu Sans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5257800" cy="21488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7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47091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B5757"/>
                </a:solidFill>
                <a:latin typeface="Ubuntu Sans"/>
              </a:rPr>
              <a:t>ESCOPO ESTÁTICO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709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7FB"/>
                </a:solidFill>
                <a:latin typeface="Ubuntu Sans"/>
              </a:rPr>
              <a:t>estrutura textual do programa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82112"/>
            <a:ext cx="4709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B7CA"/>
                </a:solidFill>
                <a:latin typeface="Ubuntu Sans"/>
              </a:rPr>
              <a:t>local → pai léxico → ancestrais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257800" cy="214884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7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47091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B5757"/>
                </a:solidFill>
                <a:latin typeface="Ubuntu Sans"/>
              </a:rPr>
              <a:t>ESCOPO DINÂMICO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578608"/>
            <a:ext cx="4709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7FB"/>
                </a:solidFill>
                <a:latin typeface="Ubuntu Sans"/>
              </a:rPr>
              <a:t>sequência de chamadas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182112"/>
            <a:ext cx="4709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B7CA"/>
                </a:solidFill>
                <a:latin typeface="Ubuntu Sans"/>
              </a:rPr>
              <a:t>local → chamador ativo → cadeia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343400"/>
            <a:ext cx="5394960" cy="107899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4343400"/>
            <a:ext cx="73152" cy="1078992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4507992"/>
            <a:ext cx="5029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B5757"/>
                </a:solidFill>
                <a:latin typeface="Ubuntu Sans"/>
              </a:rPr>
              <a:t>AMBIENTE DE REFERENCIAMENTO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" y="4956048"/>
            <a:ext cx="50109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Ubuntu Sans"/>
              </a:rPr>
              <a:t>Conjunto de todas as variáveis visíveis em uma sentença segundo a regra de escopo.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4343400"/>
            <a:ext cx="4663440" cy="107899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19088" y="4343400"/>
            <a:ext cx="73152" cy="1078992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5" y="4507992"/>
            <a:ext cx="429767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B5757"/>
                </a:solidFill>
                <a:latin typeface="Ubuntu Sans"/>
              </a:rPr>
              <a:t>ESCOPO ≠ TEMPO DE VIDA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5" y="4956048"/>
            <a:ext cx="42793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Ubuntu Sans"/>
              </a:rPr>
              <a:t>Escopo trata visibilidade; tempo de vida trata vínculo com uma posição de memória.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733288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9BA4"/>
                </a:solidFill>
                <a:latin typeface="Ubuntu Sans"/>
              </a:rPr>
              <a:t>Ocultamento: a declaração mais próxima pode esconder outra com o mesmo nome.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Escopo estático e ocultamento em 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slides-ch5, slides 28–31; conceito c49; exemplo autoral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B5757"/>
                </a:solidFill>
                <a:latin typeface="Ubuntu Sans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5897880" cy="4498848"/>
          </a:xfrm>
          <a:prstGeom prst="roundRect">
            <a:avLst/>
          </a:prstGeom>
          <a:solidFill>
            <a:srgbClr val="0B1524"/>
          </a:solidFill>
          <a:ln w="12700">
            <a:solidFill>
              <a:srgbClr val="7A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5376672" cy="39776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3DADD"/>
                </a:solidFill>
                <a:latin typeface="DejaVu Sans Mono"/>
              </a:rPr>
              <a:t>class Painel {
  static int nivel = 8;
  static void exibir() {
    int nivel = 3;
    System.out.print(nivel + " " );
  }
  public static void main(String[] a) {
    exibir();
    System.out.println(nivel);
  }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810512"/>
            <a:ext cx="1627632" cy="310896"/>
          </a:xfrm>
          <a:prstGeom prst="roundRect">
            <a:avLst/>
          </a:prstGeom>
          <a:solidFill>
            <a:srgbClr val="7A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819656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buntu Sans"/>
              </a:rPr>
              <a:t>PARE E PREVEJA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2487168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9B7CA"/>
                </a:solidFill>
                <a:latin typeface="Ubuntu Sans"/>
              </a:rPr>
              <a:t>saída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880360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F9BA4"/>
                </a:solidFill>
                <a:latin typeface="DejaVu Sans Mono"/>
              </a:rPr>
              <a:t>3 8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3794760"/>
            <a:ext cx="4114800" cy="9144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3794760"/>
            <a:ext cx="73152" cy="914400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0607" y="3913632"/>
            <a:ext cx="374903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B5757"/>
                </a:solidFill>
                <a:latin typeface="Ubuntu Sans"/>
              </a:rPr>
              <a:t>DENTRO DE exibir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7" y="4224528"/>
            <a:ext cx="3730752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7FB"/>
                </a:solidFill>
                <a:latin typeface="Ubuntu Sans"/>
              </a:rPr>
              <a:t>o nome local nivel oculta o atributo da classe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4983480"/>
            <a:ext cx="4114800" cy="914400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4983480"/>
            <a:ext cx="73152" cy="914400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7" y="5102352"/>
            <a:ext cx="374903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B5757"/>
                </a:solidFill>
                <a:latin typeface="Ubuntu Sans"/>
              </a:rPr>
              <a:t>DE VOLTA À 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7" y="5413248"/>
            <a:ext cx="3730752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7FB"/>
                </a:solidFill>
                <a:latin typeface="Ubuntu Sans"/>
              </a:rPr>
              <a:t>a busca encontra o atributo estático nivel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D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5D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SÍNTESE 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Se você consegue explicar isto, cobriu a prova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Matriz de cobertura da Prova 01; lesson model c02–c50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D6B7A"/>
                </a:solidFill>
                <a:latin typeface="Ubuntu Sans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83080"/>
            <a:ext cx="3456432" cy="144475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1984248"/>
            <a:ext cx="530352" cy="530352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4248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B"/>
                </a:solidFill>
                <a:latin typeface="Ubunt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029967"/>
            <a:ext cx="2340864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5F7FB"/>
                </a:solidFill>
                <a:latin typeface="Ubuntu Sans"/>
              </a:rPr>
              <a:t>Critérios + trade-off
JIT e implementação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783080"/>
            <a:ext cx="3456432" cy="144475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9432" y="1984248"/>
            <a:ext cx="530352" cy="53035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984248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B"/>
                </a:solidFill>
                <a:latin typeface="Ubuntu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2029967"/>
            <a:ext cx="2340864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5F7FB"/>
                </a:solidFill>
                <a:latin typeface="Ubuntu Sans"/>
              </a:rPr>
              <a:t>Fortran • Lisp • COBOL • Smalltalk
evolução como coexistência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783080"/>
            <a:ext cx="3456432" cy="144475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94192" y="1984248"/>
            <a:ext cx="530352" cy="530352"/>
          </a:xfrm>
          <a:prstGeom prst="ellipse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984248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B"/>
                </a:solidFill>
                <a:latin typeface="Ubuntu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029967"/>
            <a:ext cx="2340864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5F7FB"/>
                </a:solidFill>
                <a:latin typeface="Ubuntu Sans"/>
              </a:rPr>
              <a:t>derivação e terminais
ambiguidade e 3 semânticas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611880"/>
            <a:ext cx="3456432" cy="144475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3813048"/>
            <a:ext cx="530352" cy="530352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813048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B"/>
                </a:solidFill>
                <a:latin typeface="Ubuntu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0472" y="3858768"/>
            <a:ext cx="2340864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5F7FB"/>
                </a:solidFill>
                <a:latin typeface="Ubuntu Sans"/>
              </a:rPr>
              <a:t>lexema/token + léxico/parser
descendente/ascendente + LR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3611880"/>
            <a:ext cx="3456432" cy="1444752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9432" y="3813048"/>
            <a:ext cx="530352" cy="53035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3813048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B"/>
                </a:solidFill>
                <a:latin typeface="Ubuntu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3858768"/>
            <a:ext cx="2340864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5F7FB"/>
                </a:solidFill>
                <a:latin typeface="Ubuntu Sans"/>
              </a:rPr>
              <a:t>pilha, vinculação e vida
escopo estático + ocultamento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6552" y="5010912"/>
            <a:ext cx="6903720" cy="804672"/>
          </a:xfrm>
          <a:prstGeom prst="roundRect">
            <a:avLst/>
          </a:prstGeom>
          <a:solidFill>
            <a:srgbClr val="0E2A40"/>
          </a:solidFill>
          <a:ln w="12700">
            <a:solidFill>
              <a:srgbClr val="244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5221224"/>
            <a:ext cx="6537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D4FF"/>
                </a:solidFill>
                <a:latin typeface="Ubuntu Sans"/>
              </a:rPr>
              <a:t>Resposta forte = termo correto + mecanismo + consequência.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D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572768" cy="310896"/>
          </a:xfrm>
          <a:prstGeom prst="roundRect">
            <a:avLst/>
          </a:prstGeom>
          <a:solidFill>
            <a:srgbClr val="5D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buntu Sans"/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7FB"/>
                </a:solidFill>
                <a:latin typeface="Ubuntu Sans"/>
              </a:rPr>
              <a:t>Checklist final de 10 minutos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37392" cy="18288"/>
          </a:xfrm>
          <a:prstGeom prst="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7CA"/>
                </a:solidFill>
                <a:latin typeface="Ubuntu Sans"/>
              </a:rPr>
              <a:t>Sebesta, capítulos 1–5; slides do professor; lesson_model.approved.json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D6B7A"/>
                </a:solidFill>
                <a:latin typeface="Ubuntu Sans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709928"/>
            <a:ext cx="5257800" cy="521207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" y="1837944"/>
            <a:ext cx="256032" cy="256032"/>
          </a:xfrm>
          <a:prstGeom prst="roundRect">
            <a:avLst/>
          </a:prstGeom>
          <a:noFill/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1837944"/>
            <a:ext cx="4526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5F7FB"/>
                </a:solidFill>
                <a:latin typeface="Ubuntu Sans"/>
              </a:rPr>
              <a:t>Defino os quatro critérios sem confundi-los.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09928"/>
            <a:ext cx="5257800" cy="521207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9944" y="1837944"/>
            <a:ext cx="256032" cy="256032"/>
          </a:xfrm>
          <a:prstGeom prst="roundRect">
            <a:avLst/>
          </a:prstGeom>
          <a:noFill/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837944"/>
            <a:ext cx="4526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5F7FB"/>
                </a:solidFill>
                <a:latin typeface="Ubuntu Sans"/>
              </a:rPr>
              <a:t>Reconheço JIT pela compilação durante a execução.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2432304"/>
            <a:ext cx="5257800" cy="521207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" y="2560320"/>
            <a:ext cx="256032" cy="256032"/>
          </a:xfrm>
          <a:prstGeom prst="roundRect">
            <a:avLst/>
          </a:prstGeom>
          <a:noFill/>
          <a:ln w="12700"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2560320"/>
            <a:ext cx="4526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5F7FB"/>
                </a:solidFill>
                <a:latin typeface="Ubuntu Sans"/>
              </a:rPr>
              <a:t>Relaciono quatro linguagens a seus domínios/contribuições.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32304"/>
            <a:ext cx="5257800" cy="521207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9944" y="2560320"/>
            <a:ext cx="256032" cy="256032"/>
          </a:xfrm>
          <a:prstGeom prst="roundRect">
            <a:avLst/>
          </a:prstGeom>
          <a:noFill/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2560320"/>
            <a:ext cx="4526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5F7FB"/>
                </a:solidFill>
                <a:latin typeface="Ubuntu Sans"/>
              </a:rPr>
              <a:t>Faço uma derivação e separo terminal de não terminal.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3154680"/>
            <a:ext cx="5257800" cy="521207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" y="3282696"/>
            <a:ext cx="256032" cy="256032"/>
          </a:xfrm>
          <a:prstGeom prst="roundRect">
            <a:avLst/>
          </a:prstGeom>
          <a:noFill/>
          <a:ln w="1270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4" y="3282696"/>
            <a:ext cx="4526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5F7FB"/>
                </a:solidFill>
                <a:latin typeface="Ubuntu Sans"/>
              </a:rPr>
              <a:t>Distingo três abordagens semânticas e ambiguidade.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154680"/>
            <a:ext cx="5257800" cy="521207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9944" y="3282696"/>
            <a:ext cx="256032" cy="256032"/>
          </a:xfrm>
          <a:prstGeom prst="roundRect">
            <a:avLst/>
          </a:prstGeom>
          <a:noFill/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3282696"/>
            <a:ext cx="4526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5F7FB"/>
                </a:solidFill>
                <a:latin typeface="Ubuntu Sans"/>
              </a:rPr>
              <a:t>Classifico lexemas e explico léxico × parser.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" y="3877056"/>
            <a:ext cx="5257800" cy="521207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816" y="4005072"/>
            <a:ext cx="256032" cy="256032"/>
          </a:xfrm>
          <a:prstGeom prst="roundRect">
            <a:avLst/>
          </a:prstGeom>
          <a:noFill/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7864" y="4005072"/>
            <a:ext cx="4526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5F7FB"/>
                </a:solidFill>
                <a:latin typeface="Ubuntu Sans"/>
              </a:rPr>
              <a:t>Comparo descendente × ascendente e explico LR.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877056"/>
            <a:ext cx="5257800" cy="521207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9944" y="4005072"/>
            <a:ext cx="256032" cy="256032"/>
          </a:xfrm>
          <a:prstGeom prst="roundRect">
            <a:avLst/>
          </a:prstGeom>
          <a:noFill/>
          <a:ln w="12700"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93992" y="4005072"/>
            <a:ext cx="4526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5F7FB"/>
                </a:solidFill>
                <a:latin typeface="Ubuntu Sans"/>
              </a:rPr>
              <a:t>Classifico variável local como dinâmica da pilha.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" y="4599432"/>
            <a:ext cx="5257800" cy="521207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3816" y="4727448"/>
            <a:ext cx="256032" cy="256032"/>
          </a:xfrm>
          <a:prstGeom prst="roundRect">
            <a:avLst/>
          </a:prstGeom>
          <a:noFill/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97864" y="4727448"/>
            <a:ext cx="4526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5F7FB"/>
                </a:solidFill>
                <a:latin typeface="Ubuntu Sans"/>
              </a:rPr>
              <a:t>Separo escopo de tempo de vida.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599432"/>
            <a:ext cx="5257800" cy="521207"/>
          </a:xfrm>
          <a:prstGeom prst="roundRect">
            <a:avLst/>
          </a:prstGeom>
          <a:solidFill>
            <a:srgbClr val="101D30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9944" y="4727448"/>
            <a:ext cx="256032" cy="256032"/>
          </a:xfrm>
          <a:prstGeom prst="roundRect">
            <a:avLst/>
          </a:prstGeom>
          <a:noFill/>
          <a:ln w="1270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93992" y="4727448"/>
            <a:ext cx="4526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5F7FB"/>
                </a:solidFill>
                <a:latin typeface="Ubuntu Sans"/>
              </a:rPr>
              <a:t>Prevejo saída com ocultamento no escopo estático.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577840"/>
            <a:ext cx="1019556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D4FF"/>
                </a:solidFill>
                <a:latin typeface="Ubuntu Sans"/>
              </a:rPr>
              <a:t>Explique em voz alta. Onde travar, volte ao slide do capítulo.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6016752"/>
            <a:ext cx="10195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9B7CA"/>
                </a:solidFill>
                <a:latin typeface="Ubuntu Sans"/>
              </a:rPr>
              <a:t>Fontes completas e localizações estão nas notas do apresentador e no arquivo .meta.json.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da Primeira Prova Bimestral — Capítulos 1 a 5</dc:title>
  <dc:subject>Paradigmas de Programação — Engenharia de Software</dc:subject>
  <dc:creator>Aula Factory</dc:creator>
  <cp:keywords>Sebesta, linguagens de programação, revisão, prova</cp:keywords>
  <dc:description>Síntese autoral rastreável; gerada sem chamadas externas.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